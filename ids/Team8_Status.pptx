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587" r:id="rId4"/>
    <p:sldId id="588" r:id="rId5"/>
    <p:sldId id="589" r:id="rId6"/>
    <p:sldId id="592" r:id="rId7"/>
    <p:sldId id="591" r:id="rId8"/>
    <p:sldId id="585" r:id="rId9"/>
    <p:sldId id="590" r:id="rId10"/>
    <p:sldId id="584" r:id="rId11"/>
    <p:sldId id="574" r:id="rId12"/>
    <p:sldId id="577" r:id="rId13"/>
    <p:sldId id="5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vekanandan D" initials="D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21" autoAdjust="0"/>
    <p:restoredTop sz="94624" autoAdjust="0"/>
  </p:normalViewPr>
  <p:slideViewPr>
    <p:cSldViewPr showGuides="1">
      <p:cViewPr varScale="1">
        <p:scale>
          <a:sx n="82" d="100"/>
          <a:sy n="82" d="100"/>
        </p:scale>
        <p:origin x="7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1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0CB07-C6A6-48E1-920A-0A59C02E342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98F1A-6B10-4331-AF2D-D45816B10CE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D6B1C-D8A0-4D3C-93D6-E7246A2C2BD8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C7A73-2622-4517-9B6D-97619EF9B92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B402B-6160-489A-A5FF-D966DF196952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/121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3C729-DDC9-49C5-8787-464922E1D189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C28E3-7D48-4968-85AA-4591CF1C89EE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0B3-6238-457D-A080-013B0E3D3D39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8CE-7757-4A0B-A50A-49B51D5A50AE}" type="datetime2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/121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FDAD5-69E9-472B-88A3-1B4802AC1172}" type="datetime2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76D65-86DC-4389-8957-756A9EF01E5F}" type="datetime2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8F7A8-2472-4C0A-A91D-F129B19917E8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B381-6281-45E0-842B-B8197DDB06E4}" type="datetime2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AE40B-5EB4-4281-943E-EDCF6B80C088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0F7A-335E-453D-9653-0462F3B56F0C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4F93A-E56E-46D8-90B4-8248FDC61591}" type="datetime2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GIF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70250"/>
            <a:ext cx="8807896" cy="1296861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Hierarchical Temporal Graph Neural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for Early Intrusion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in 5G/6G Networks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275138"/>
            <a:ext cx="8534400" cy="533400"/>
          </a:xfrm>
        </p:spPr>
        <p:txBody>
          <a:bodyPr>
            <a:normAutofit/>
          </a:bodyPr>
          <a:lstStyle/>
          <a:p>
            <a:r>
              <a:rPr lang="en-IN" alt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63552" y="229208"/>
            <a:ext cx="4464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 </a:t>
            </a:r>
            <a:b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Madras Institute Of Technology </a:t>
            </a:r>
            <a:b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 University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67600" y="152401"/>
            <a:ext cx="1158394" cy="917448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176962" y="1186017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018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:\SEM5\St_FIE\Anna_University,_Chennai_logo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536" y="253937"/>
            <a:ext cx="824700" cy="7143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52400" y="4432725"/>
            <a:ext cx="915535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					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Kumaran S (2023506091) 				Dr. G. Rajesh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Gnanendhiran V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(2023506103) 			Associate Professor,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Janardhanam B (2023506108) 			Department of Information Technology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Nandhakumar V  (2023506308)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RESULTS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1340485"/>
            <a:ext cx="8349615" cy="2568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 –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Preprocessing &amp; Progressive Flow Extraction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1,215,890 5G-NIDD network-flow records processed.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3,343 duplicate rows identified during data-quality analysis.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10,954,825 NaN feature values converted to 0 during graph preprocessing.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91 network-traffic features prepared for graph-node representation.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Progressive temporal windows generated: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 packets: 243,178 windows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 packets: 121,589 windows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 packets: 60,794 windows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50 packets: 24,317 windows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 Files: Saved as progressive_windows (CSV format)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RESULTS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1340485"/>
            <a:ext cx="8349615" cy="2568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 – Multi-Scale Temporal Graph Construction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243,178 graph snapshots constructed from the 5-packet windows.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Each graph contains 5 nodes and 10 k-NN edges.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 = 2 used for graph connectivity.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2,431,780 total edges generated.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Each node contains 91 normalized features.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91,518 benign graphs and 151,660 malicious graphs generated.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RESULTS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1340485"/>
            <a:ext cx="8349615" cy="2568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 – PyTorch Geometric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graph_dataset.pt successfully created.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243,178 graphs, 1,215,890 nodes, and 2,431,780 edges.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48,635 temporal sequences created.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Each sequence contains 5 consecutive graph snapshots.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17,738 benign sequences and 30,897 malicious sequences.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 downsampling or oversampling applied.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RESULTS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1340485"/>
            <a:ext cx="8349615" cy="2568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 – Temporal Dataset Preparatio</a:t>
            </a:r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48,635 temporal sequences created.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Label Distribution:</a:t>
            </a:r>
            <a:endParaRPr lang="en-US" altLang="en-US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Benign Sequences → 17,738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Malicious Sequences → 30,897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Average Composition:</a:t>
            </a:r>
            <a:endParaRPr lang="en-US" altLang="en-US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Malicious Graphs per sequence → 3.12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Benign Graphs per sequence → 1.88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Malicious Nodes per sequence → 15.18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Benign Nodes per sequence → 9.82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 File: graph_sequences.pt (ready for HTSTCL-GNN training)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 RESULTS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1340485"/>
            <a:ext cx="8349615" cy="2568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Graph Visualization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Snapshots Visualized: 20 sample graphs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Benign Example: Graph with 5 benign nodes, 10 edges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Malicious Example: Graph with 2 benign + 3 malicious nodes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Output: PNG snapshots saved for dashboard integration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1930" y="1275080"/>
            <a:ext cx="8792210" cy="500888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600" y="622756"/>
            <a:ext cx="587102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5265" y="1264920"/>
            <a:ext cx="8679815" cy="504571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7158" y="571480"/>
            <a:ext cx="5486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745" y="1374140"/>
            <a:ext cx="8898890" cy="48533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7158" y="571480"/>
            <a:ext cx="58710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TOOLS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81120"/>
          <a:ext cx="8686800" cy="5612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48"/>
                <a:gridCol w="2818236"/>
                <a:gridCol w="3282416"/>
              </a:tblGrid>
              <a:tr h="391746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Specification/Tool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3.x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implementation and data processing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5G-NIDD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and malicious 5G network traffic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6140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Scaling &amp; Edge Construction</a:t>
                      </a:r>
                      <a:endParaRPr sz="1550" b="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NumPy, </a:t>
                      </a: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normalization and k-NN graph edge construction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Processing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 err="1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Geometric, </a:t>
                      </a:r>
                      <a:r>
                        <a:rPr sz="1550" dirty="0" err="1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NetworkX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construction, representation and processing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Learning</a:t>
                      </a:r>
                      <a:endParaRPr sz="1550" b="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 (Graph Attention Network)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 spatial relationships between network-flow nodes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Learning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 (Gated Recurrent Unit)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 temporal dependencies across graph sequences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</a:tr>
              <a:tr h="323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5G Network Simulation</a:t>
                      </a:r>
                      <a:endParaRPr sz="1550" b="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ns-3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 5G wireless network traffic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3239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GNNExplainer / SHAP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model predictions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detection results and security insights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55748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  <a:endParaRPr sz="1550" b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 / Google Colab</a:t>
                      </a:r>
                      <a:endParaRPr sz="155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dirty="0">
                          <a:solidFill>
                            <a:srgbClr val="14141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Development, experimentation and computationally intensive training</a:t>
                      </a:r>
                      <a:endParaRPr sz="1550" dirty="0">
                        <a:solidFill>
                          <a:srgbClr val="14141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DE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7158" y="571480"/>
            <a:ext cx="58710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20980" y="1196975"/>
          <a:ext cx="8694420" cy="528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/>
                <a:gridCol w="2173605"/>
                <a:gridCol w="2173605"/>
                <a:gridCol w="217360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Date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date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and Problem Finalization</a:t>
                      </a:r>
                      <a:endParaRPr lang="en-IN" altLang="en-US" sz="14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Jul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Jul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 and Preprocessing</a:t>
                      </a:r>
                      <a:endParaRPr lang="en-IN" altLang="en-US" sz="14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Jul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Jul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Progressive Flow Extraction</a:t>
                      </a:r>
                      <a:endParaRPr lang="en-IN" altLang="en-US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Jul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Aug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Multi-Scale Temporal Graph Construction</a:t>
                      </a:r>
                      <a:endParaRPr lang="en-IN" altLang="en-US" sz="14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Aug 2026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Aug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Hierarchical Spatio-Temporal Graph Learning</a:t>
                      </a:r>
                      <a:endParaRPr lang="en-IN" altLang="en-US" sz="1400"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Aug 2026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 Aug 2026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Intrusion Detection</a:t>
                      </a:r>
                      <a:endParaRPr lang="en-I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Aug 2026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 Aug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Model</a:t>
                      </a:r>
                      <a:endParaRPr lang="en-I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 Aug 2026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Sep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Dashboard</a:t>
                      </a:r>
                      <a:endParaRPr lang="en-I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Sep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Oct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Perfomance Evaluation</a:t>
                      </a:r>
                      <a:endParaRPr lang="en-I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Oct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Oct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and Final Review</a:t>
                      </a:r>
                      <a:endParaRPr lang="en-I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Oct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 Oct 2026</a:t>
                      </a:r>
                      <a:endParaRPr lang="en-IN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Back up\DKHTML\Login_12032015\aumitnew\logom.jpe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0" y="117653"/>
            <a:ext cx="1005994" cy="796747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228600" y="1143000"/>
            <a:ext cx="8686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8600" y="6399212"/>
            <a:ext cx="8534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715000" y="838200"/>
            <a:ext cx="33295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Madras Institute of Technology |Dept. of IT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09904" y="3076146"/>
            <a:ext cx="8191529" cy="671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THANK YOU</a:t>
            </a: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4245</Words>
  <Application>WPS Presentation</Application>
  <PresentationFormat>On-screen Show (4:3)</PresentationFormat>
  <Paragraphs>283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Urbanist</vt:lpstr>
      <vt:lpstr>Segoe Print</vt:lpstr>
      <vt:lpstr>Calibri</vt:lpstr>
      <vt:lpstr>Microsoft YaHei</vt:lpstr>
      <vt:lpstr>Arial Unicode MS</vt:lpstr>
      <vt:lpstr>Office Theme</vt:lpstr>
      <vt:lpstr>Explainable Hierarchical Temporal Graph Neural Network for Early Intrusion Detection in 5G/6G Networks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Deepak</dc:creator>
  <cp:lastModifiedBy>Kumaran SK</cp:lastModifiedBy>
  <cp:revision>1152</cp:revision>
  <dcterms:created xsi:type="dcterms:W3CDTF">2006-08-16T00:00:00Z</dcterms:created>
  <dcterms:modified xsi:type="dcterms:W3CDTF">2026-08-22T01:23:29Z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EA5EB7DEA1074C559EF3252847F2ABDD_12</vt:lpwstr>
  </property>
</Properties>
</file>