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9" r:id="rId5"/>
    <p:sldId id="266" r:id="rId6"/>
    <p:sldId id="258" r:id="rId7"/>
    <p:sldId id="261" r:id="rId8"/>
    <p:sldId id="270" r:id="rId9"/>
    <p:sldId id="262" r:id="rId10"/>
    <p:sldId id="264" r:id="rId11"/>
    <p:sldId id="263" r:id="rId12"/>
    <p:sldId id="265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D19298-21BE-4C3E-A67E-9421387D24AD}" v="9" dt="2026-07-21T17:43:35.0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hakumar V" userId="6fc5e17af1e3dd8b" providerId="LiveId" clId="{30E4A4B2-C164-47EA-858A-059FF8A4407C}"/>
    <pc:docChg chg="undo custSel modSld">
      <pc:chgData name="Nandhakumar V" userId="6fc5e17af1e3dd8b" providerId="LiveId" clId="{30E4A4B2-C164-47EA-858A-059FF8A4407C}" dt="2026-07-21T17:52:15.113" v="312" actId="20577"/>
      <pc:docMkLst>
        <pc:docMk/>
      </pc:docMkLst>
      <pc:sldChg chg="modSp mod">
        <pc:chgData name="Nandhakumar V" userId="6fc5e17af1e3dd8b" providerId="LiveId" clId="{30E4A4B2-C164-47EA-858A-059FF8A4407C}" dt="2026-07-21T17:51:14.899" v="311" actId="20577"/>
        <pc:sldMkLst>
          <pc:docMk/>
          <pc:sldMk cId="0" sldId="256"/>
        </pc:sldMkLst>
        <pc:spChg chg="mod">
          <ac:chgData name="Nandhakumar V" userId="6fc5e17af1e3dd8b" providerId="LiveId" clId="{30E4A4B2-C164-47EA-858A-059FF8A4407C}" dt="2026-07-21T17:17:18.068" v="23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Nandhakumar V" userId="6fc5e17af1e3dd8b" providerId="LiveId" clId="{30E4A4B2-C164-47EA-858A-059FF8A4407C}" dt="2026-07-21T17:17:18.068" v="23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Nandhakumar V" userId="6fc5e17af1e3dd8b" providerId="LiveId" clId="{30E4A4B2-C164-47EA-858A-059FF8A4407C}" dt="2026-07-21T17:17:18.068" v="23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Nandhakumar V" userId="6fc5e17af1e3dd8b" providerId="LiveId" clId="{30E4A4B2-C164-47EA-858A-059FF8A4407C}" dt="2026-07-21T17:17:18.068" v="23" actId="2711"/>
          <ac:spMkLst>
            <pc:docMk/>
            <pc:sldMk cId="0" sldId="256"/>
            <ac:spMk id="7" creationId="{00000000-0000-0000-0000-000000000000}"/>
          </ac:spMkLst>
        </pc:spChg>
        <pc:spChg chg="mod">
          <ac:chgData name="Nandhakumar V" userId="6fc5e17af1e3dd8b" providerId="LiveId" clId="{30E4A4B2-C164-47EA-858A-059FF8A4407C}" dt="2026-07-21T17:17:18.068" v="23" actId="2711"/>
          <ac:spMkLst>
            <pc:docMk/>
            <pc:sldMk cId="0" sldId="256"/>
            <ac:spMk id="9" creationId="{00000000-0000-0000-0000-000000000000}"/>
          </ac:spMkLst>
        </pc:spChg>
        <pc:spChg chg="mod">
          <ac:chgData name="Nandhakumar V" userId="6fc5e17af1e3dd8b" providerId="LiveId" clId="{30E4A4B2-C164-47EA-858A-059FF8A4407C}" dt="2026-07-21T17:51:14.899" v="311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Nandhakumar V" userId="6fc5e17af1e3dd8b" providerId="LiveId" clId="{30E4A4B2-C164-47EA-858A-059FF8A4407C}" dt="2026-07-21T17:17:18.068" v="23" actId="2711"/>
          <ac:spMkLst>
            <pc:docMk/>
            <pc:sldMk cId="0" sldId="256"/>
            <ac:spMk id="11" creationId="{CCB2023A-CCC2-8CDF-8DD2-8D9009A58FC6}"/>
          </ac:spMkLst>
        </pc:spChg>
        <pc:spChg chg="mod">
          <ac:chgData name="Nandhakumar V" userId="6fc5e17af1e3dd8b" providerId="LiveId" clId="{30E4A4B2-C164-47EA-858A-059FF8A4407C}" dt="2026-07-21T17:17:18.068" v="23" actId="2711"/>
          <ac:spMkLst>
            <pc:docMk/>
            <pc:sldMk cId="0" sldId="256"/>
            <ac:spMk id="12" creationId="{6CE04C23-6986-BB7E-7C8D-1FF483C78452}"/>
          </ac:spMkLst>
        </pc:spChg>
      </pc:sldChg>
      <pc:sldChg chg="modSp mod">
        <pc:chgData name="Nandhakumar V" userId="6fc5e17af1e3dd8b" providerId="LiveId" clId="{30E4A4B2-C164-47EA-858A-059FF8A4407C}" dt="2026-07-21T17:34:17.187" v="153" actId="255"/>
        <pc:sldMkLst>
          <pc:docMk/>
          <pc:sldMk cId="0" sldId="257"/>
        </pc:sldMkLst>
        <pc:spChg chg="mod">
          <ac:chgData name="Nandhakumar V" userId="6fc5e17af1e3dd8b" providerId="LiveId" clId="{30E4A4B2-C164-47EA-858A-059FF8A4407C}" dt="2026-07-21T17:34:02.094" v="152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Nandhakumar V" userId="6fc5e17af1e3dd8b" providerId="LiveId" clId="{30E4A4B2-C164-47EA-858A-059FF8A4407C}" dt="2026-07-21T17:34:17.187" v="153" actId="255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Nandhakumar V" userId="6fc5e17af1e3dd8b" providerId="LiveId" clId="{30E4A4B2-C164-47EA-858A-059FF8A4407C}" dt="2026-07-21T17:34:35.652" v="155" actId="1076"/>
        <pc:sldMkLst>
          <pc:docMk/>
          <pc:sldMk cId="0" sldId="258"/>
        </pc:sldMkLst>
        <pc:spChg chg="mod">
          <ac:chgData name="Nandhakumar V" userId="6fc5e17af1e3dd8b" providerId="LiveId" clId="{30E4A4B2-C164-47EA-858A-059FF8A4407C}" dt="2026-07-21T17:34:35.652" v="155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Nandhakumar V" userId="6fc5e17af1e3dd8b" providerId="LiveId" clId="{30E4A4B2-C164-47EA-858A-059FF8A4407C}" dt="2026-07-21T17:52:15.113" v="312" actId="20577"/>
        <pc:sldMkLst>
          <pc:docMk/>
          <pc:sldMk cId="0" sldId="259"/>
        </pc:sldMkLst>
        <pc:spChg chg="mod">
          <ac:chgData name="Nandhakumar V" userId="6fc5e17af1e3dd8b" providerId="LiveId" clId="{30E4A4B2-C164-47EA-858A-059FF8A4407C}" dt="2026-07-21T17:18:25.510" v="28" actId="2711"/>
          <ac:spMkLst>
            <pc:docMk/>
            <pc:sldMk cId="0" sldId="259"/>
            <ac:spMk id="4" creationId="{802F0EB6-AF89-4C0A-6758-FD526BCFE1CC}"/>
          </ac:spMkLst>
        </pc:spChg>
        <pc:graphicFrameChg chg="modGraphic">
          <ac:chgData name="Nandhakumar V" userId="6fc5e17af1e3dd8b" providerId="LiveId" clId="{30E4A4B2-C164-47EA-858A-059FF8A4407C}" dt="2026-07-21T17:52:15.113" v="312" actId="20577"/>
          <ac:graphicFrameMkLst>
            <pc:docMk/>
            <pc:sldMk cId="0" sldId="259"/>
            <ac:graphicFrameMk id="8" creationId="{D3C60A8B-9AE0-C309-B534-D3CA157F2D2A}"/>
          </ac:graphicFrameMkLst>
        </pc:graphicFrameChg>
      </pc:sldChg>
      <pc:sldChg chg="modSp mod">
        <pc:chgData name="Nandhakumar V" userId="6fc5e17af1e3dd8b" providerId="LiveId" clId="{30E4A4B2-C164-47EA-858A-059FF8A4407C}" dt="2026-07-21T17:39:53.044" v="177" actId="20577"/>
        <pc:sldMkLst>
          <pc:docMk/>
          <pc:sldMk cId="0" sldId="261"/>
        </pc:sldMkLst>
        <pc:spChg chg="mod">
          <ac:chgData name="Nandhakumar V" userId="6fc5e17af1e3dd8b" providerId="LiveId" clId="{30E4A4B2-C164-47EA-858A-059FF8A4407C}" dt="2026-07-21T17:39:53.044" v="177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Nandhakumar V" userId="6fc5e17af1e3dd8b" providerId="LiveId" clId="{30E4A4B2-C164-47EA-858A-059FF8A4407C}" dt="2026-07-21T17:26:44.647" v="77" actId="255"/>
        <pc:sldMkLst>
          <pc:docMk/>
          <pc:sldMk cId="0" sldId="262"/>
        </pc:sldMkLst>
        <pc:graphicFrameChg chg="modGraphic">
          <ac:chgData name="Nandhakumar V" userId="6fc5e17af1e3dd8b" providerId="LiveId" clId="{30E4A4B2-C164-47EA-858A-059FF8A4407C}" dt="2026-07-21T17:26:44.647" v="77" actId="255"/>
          <ac:graphicFrameMkLst>
            <pc:docMk/>
            <pc:sldMk cId="0" sldId="262"/>
            <ac:graphicFrameMk id="5" creationId="{80A77E18-B19F-9E80-532F-1D42FBA3CB9E}"/>
          </ac:graphicFrameMkLst>
        </pc:graphicFrameChg>
      </pc:sldChg>
      <pc:sldChg chg="addSp delSp modSp mod">
        <pc:chgData name="Nandhakumar V" userId="6fc5e17af1e3dd8b" providerId="LiveId" clId="{30E4A4B2-C164-47EA-858A-059FF8A4407C}" dt="2026-07-21T17:30:07.901" v="134" actId="20577"/>
        <pc:sldMkLst>
          <pc:docMk/>
          <pc:sldMk cId="0" sldId="264"/>
        </pc:sldMkLst>
        <pc:spChg chg="del mod">
          <ac:chgData name="Nandhakumar V" userId="6fc5e17af1e3dd8b" providerId="LiveId" clId="{30E4A4B2-C164-47EA-858A-059FF8A4407C}" dt="2026-07-21T17:28:57.302" v="106" actId="21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Nandhakumar V" userId="6fc5e17af1e3dd8b" providerId="LiveId" clId="{30E4A4B2-C164-47EA-858A-059FF8A4407C}" dt="2026-07-21T17:29:25.608" v="110" actId="21"/>
          <ac:spMkLst>
            <pc:docMk/>
            <pc:sldMk cId="0" sldId="264"/>
            <ac:spMk id="5" creationId="{00000000-0000-0000-0000-000000000000}"/>
          </ac:spMkLst>
        </pc:spChg>
        <pc:spChg chg="add mod">
          <ac:chgData name="Nandhakumar V" userId="6fc5e17af1e3dd8b" providerId="LiveId" clId="{30E4A4B2-C164-47EA-858A-059FF8A4407C}" dt="2026-07-21T17:30:07.901" v="134" actId="20577"/>
          <ac:spMkLst>
            <pc:docMk/>
            <pc:sldMk cId="0" sldId="264"/>
            <ac:spMk id="6" creationId="{45587A17-8EC9-EF94-96D5-85B4176BAC31}"/>
          </ac:spMkLst>
        </pc:spChg>
        <pc:graphicFrameChg chg="modGraphic">
          <ac:chgData name="Nandhakumar V" userId="6fc5e17af1e3dd8b" providerId="LiveId" clId="{30E4A4B2-C164-47EA-858A-059FF8A4407C}" dt="2026-07-21T17:26:04.069" v="63" actId="255"/>
          <ac:graphicFrameMkLst>
            <pc:docMk/>
            <pc:sldMk cId="0" sldId="264"/>
            <ac:graphicFrameMk id="3" creationId="{00000000-0000-0000-0000-000000000000}"/>
          </ac:graphicFrameMkLst>
        </pc:graphicFrameChg>
      </pc:sldChg>
      <pc:sldChg chg="modSp mod">
        <pc:chgData name="Nandhakumar V" userId="6fc5e17af1e3dd8b" providerId="LiveId" clId="{30E4A4B2-C164-47EA-858A-059FF8A4407C}" dt="2026-07-21T17:40:49.907" v="185" actId="1076"/>
        <pc:sldMkLst>
          <pc:docMk/>
          <pc:sldMk cId="0" sldId="265"/>
        </pc:sldMkLst>
        <pc:graphicFrameChg chg="mod modGraphic">
          <ac:chgData name="Nandhakumar V" userId="6fc5e17af1e3dd8b" providerId="LiveId" clId="{30E4A4B2-C164-47EA-858A-059FF8A4407C}" dt="2026-07-21T17:40:49.907" v="185" actId="1076"/>
          <ac:graphicFrameMkLst>
            <pc:docMk/>
            <pc:sldMk cId="0" sldId="265"/>
            <ac:graphicFrameMk id="5" creationId="{D8052892-7B7F-08D9-E7CF-42149B4E6C42}"/>
          </ac:graphicFrameMkLst>
        </pc:graphicFrameChg>
      </pc:sldChg>
      <pc:sldChg chg="modSp mod">
        <pc:chgData name="Nandhakumar V" userId="6fc5e17af1e3dd8b" providerId="LiveId" clId="{30E4A4B2-C164-47EA-858A-059FF8A4407C}" dt="2026-07-21T17:23:07.359" v="55" actId="12"/>
        <pc:sldMkLst>
          <pc:docMk/>
          <pc:sldMk cId="2756545027" sldId="266"/>
        </pc:sldMkLst>
        <pc:spChg chg="mod">
          <ac:chgData name="Nandhakumar V" userId="6fc5e17af1e3dd8b" providerId="LiveId" clId="{30E4A4B2-C164-47EA-858A-059FF8A4407C}" dt="2026-07-21T17:22:58.394" v="54" actId="1076"/>
          <ac:spMkLst>
            <pc:docMk/>
            <pc:sldMk cId="2756545027" sldId="266"/>
            <ac:spMk id="2" creationId="{BDFA70FC-937C-63B6-283F-F145BC8CA376}"/>
          </ac:spMkLst>
        </pc:spChg>
        <pc:spChg chg="mod">
          <ac:chgData name="Nandhakumar V" userId="6fc5e17af1e3dd8b" providerId="LiveId" clId="{30E4A4B2-C164-47EA-858A-059FF8A4407C}" dt="2026-07-21T17:23:07.359" v="55" actId="12"/>
          <ac:spMkLst>
            <pc:docMk/>
            <pc:sldMk cId="2756545027" sldId="266"/>
            <ac:spMk id="3" creationId="{3663BAB4-B865-64FA-0E23-F2695A6CB9C5}"/>
          </ac:spMkLst>
        </pc:spChg>
      </pc:sldChg>
      <pc:sldChg chg="addSp modSp mod">
        <pc:chgData name="Nandhakumar V" userId="6fc5e17af1e3dd8b" providerId="LiveId" clId="{30E4A4B2-C164-47EA-858A-059FF8A4407C}" dt="2026-07-21T17:47:54.114" v="283" actId="20577"/>
        <pc:sldMkLst>
          <pc:docMk/>
          <pc:sldMk cId="1730545385" sldId="269"/>
        </pc:sldMkLst>
        <pc:spChg chg="add">
          <ac:chgData name="Nandhakumar V" userId="6fc5e17af1e3dd8b" providerId="LiveId" clId="{30E4A4B2-C164-47EA-858A-059FF8A4407C}" dt="2026-07-21T17:41:16.514" v="186" actId="22"/>
          <ac:spMkLst>
            <pc:docMk/>
            <pc:sldMk cId="1730545385" sldId="269"/>
            <ac:spMk id="4" creationId="{DA2CEC33-B863-8F0C-4A7A-6BCC5454DFF4}"/>
          </ac:spMkLst>
        </pc:spChg>
        <pc:graphicFrameChg chg="mod modGraphic">
          <ac:chgData name="Nandhakumar V" userId="6fc5e17af1e3dd8b" providerId="LiveId" clId="{30E4A4B2-C164-47EA-858A-059FF8A4407C}" dt="2026-07-21T17:47:54.114" v="283" actId="20577"/>
          <ac:graphicFrameMkLst>
            <pc:docMk/>
            <pc:sldMk cId="1730545385" sldId="269"/>
            <ac:graphicFrameMk id="5" creationId="{4785F342-B5B4-4DD2-5B03-996E6FE6FFB2}"/>
          </ac:graphicFrameMkLst>
        </pc:graphicFrameChg>
      </pc:sldChg>
      <pc:sldChg chg="modSp mod">
        <pc:chgData name="Nandhakumar V" userId="6fc5e17af1e3dd8b" providerId="LiveId" clId="{30E4A4B2-C164-47EA-858A-059FF8A4407C}" dt="2026-07-21T17:35:22.388" v="156" actId="1076"/>
        <pc:sldMkLst>
          <pc:docMk/>
          <pc:sldMk cId="3407338528" sldId="270"/>
        </pc:sldMkLst>
        <pc:spChg chg="mod">
          <ac:chgData name="Nandhakumar V" userId="6fc5e17af1e3dd8b" providerId="LiveId" clId="{30E4A4B2-C164-47EA-858A-059FF8A4407C}" dt="2026-07-21T17:35:22.388" v="156" actId="1076"/>
          <ac:spMkLst>
            <pc:docMk/>
            <pc:sldMk cId="3407338528" sldId="270"/>
            <ac:spMk id="5" creationId="{6F08C73E-C90A-EECA-C396-083431449DE3}"/>
          </ac:spMkLst>
        </pc:spChg>
        <pc:graphicFrameChg chg="modGraphic">
          <ac:chgData name="Nandhakumar V" userId="6fc5e17af1e3dd8b" providerId="LiveId" clId="{30E4A4B2-C164-47EA-858A-059FF8A4407C}" dt="2026-07-21T17:20:01.939" v="34" actId="255"/>
          <ac:graphicFrameMkLst>
            <pc:docMk/>
            <pc:sldMk cId="3407338528" sldId="270"/>
            <ac:graphicFrameMk id="2" creationId="{629FF8D4-3168-0F19-B6C8-053BDA87D89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7762C-98E3-40C3-98FD-B74689A266E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286E7-39B2-4E7C-BF44-8C24496FC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452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286E7-39B2-4E7C-BF44-8C24496FC58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018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07143" y="2015489"/>
            <a:ext cx="7816215" cy="6122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42544" y="563880"/>
            <a:ext cx="17202785" cy="9153525"/>
          </a:xfrm>
          <a:custGeom>
            <a:avLst/>
            <a:gdLst/>
            <a:ahLst/>
            <a:cxnLst/>
            <a:rect l="l" t="t" r="r" b="b"/>
            <a:pathLst>
              <a:path w="17202785" h="9153525">
                <a:moveTo>
                  <a:pt x="0" y="9153144"/>
                </a:moveTo>
                <a:lnTo>
                  <a:pt x="0" y="0"/>
                </a:lnTo>
                <a:lnTo>
                  <a:pt x="17202785" y="0"/>
                </a:lnTo>
                <a:lnTo>
                  <a:pt x="17202785" y="9153144"/>
                </a:lnTo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48640" y="594359"/>
            <a:ext cx="17200245" cy="9153525"/>
          </a:xfrm>
          <a:custGeom>
            <a:avLst/>
            <a:gdLst/>
            <a:ahLst/>
            <a:cxnLst/>
            <a:rect l="l" t="t" r="r" b="b"/>
            <a:pathLst>
              <a:path w="17200245" h="9153525">
                <a:moveTo>
                  <a:pt x="0" y="9153144"/>
                </a:moveTo>
                <a:lnTo>
                  <a:pt x="0" y="0"/>
                </a:lnTo>
                <a:lnTo>
                  <a:pt x="17199737" y="0"/>
                </a:lnTo>
                <a:lnTo>
                  <a:pt x="17199737" y="9153144"/>
                </a:lnTo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0429" y="831341"/>
            <a:ext cx="13881861" cy="10211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1097" y="2449448"/>
            <a:ext cx="12270105" cy="5644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365" y="733348"/>
            <a:ext cx="1220980" cy="1352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20415" y="865632"/>
            <a:ext cx="1786127" cy="116128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00429" y="831341"/>
            <a:ext cx="138818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7110" algn="ctr">
              <a:lnSpc>
                <a:spcPct val="100000"/>
              </a:lnSpc>
              <a:spcBef>
                <a:spcPts val="100"/>
              </a:spcBef>
            </a:pPr>
            <a:r>
              <a:rPr sz="36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3600" b="1" u="none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600" b="1" u="none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sz="3600" b="1" u="none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u="none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6793" y="2010232"/>
            <a:ext cx="362331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</a:t>
            </a:r>
            <a:r>
              <a:rPr sz="3000" b="1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7800" y="6521053"/>
            <a:ext cx="6223305" cy="2841804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3000" b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4650" indent="-361950">
              <a:lnSpc>
                <a:spcPct val="100000"/>
              </a:lnSpc>
              <a:spcBef>
                <a:spcPts val="1710"/>
              </a:spcBef>
              <a:buAutoNum type="arabicPeriod"/>
              <a:tabLst>
                <a:tab pos="374650" algn="l"/>
              </a:tabLst>
            </a:pPr>
            <a:r>
              <a:rPr lang="en-US"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Kumaran 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(20235060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4650" indent="-361950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374650" algn="l"/>
              </a:tabLst>
            </a:pPr>
            <a:r>
              <a:rPr lang="en-US" sz="2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Gnanendhiran V</a:t>
            </a:r>
            <a:r>
              <a:rPr lang="en-US" sz="28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(2023506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103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4650" indent="-36195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374650" algn="l"/>
              </a:tabLst>
            </a:pPr>
            <a:r>
              <a:rPr lang="en-US" sz="2800" spc="17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Janardhanam</a:t>
            </a:r>
            <a:r>
              <a:rPr lang="en-US" sz="28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sz="28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(2023506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4650" indent="-36195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374650" algn="l"/>
              </a:tabLst>
            </a:pP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Nandha Kumar V (2023506308)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25302" y="6678639"/>
            <a:ext cx="7210298" cy="216213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sz="3000" b="1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772410">
              <a:lnSpc>
                <a:spcPts val="4200"/>
              </a:lnSpc>
              <a:spcBef>
                <a:spcPts val="95"/>
              </a:spcBef>
            </a:pPr>
            <a:r>
              <a:rPr sz="3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sz="3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3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30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Rajesh</a:t>
            </a:r>
          </a:p>
          <a:p>
            <a:pPr marL="12700" marR="2772410">
              <a:lnSpc>
                <a:spcPts val="4200"/>
              </a:lnSpc>
              <a:spcBef>
                <a:spcPts val="95"/>
              </a:spcBef>
            </a:pPr>
            <a:r>
              <a:rPr lang="en-IN"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3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30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000" spc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sz="30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32591" y="2746760"/>
            <a:ext cx="5073015" cy="641201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00"/>
              </a:spcBef>
            </a:pP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sz="3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sz="3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2023-</a:t>
            </a:r>
            <a:r>
              <a:rPr sz="3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2027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8600" y="4539741"/>
            <a:ext cx="10058400" cy="14888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Explainable Hierarchical Temporal Graph Neural Network for Early Intrusion Detection in 5G/6G  Networks</a:t>
            </a:r>
            <a:endParaRPr lang="en-US" sz="32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B2023A-CCC2-8CDF-8DD2-8D9009A58FC6}"/>
              </a:ext>
            </a:extLst>
          </p:cNvPr>
          <p:cNvSpPr txBox="1"/>
          <p:nvPr/>
        </p:nvSpPr>
        <p:spPr>
          <a:xfrm>
            <a:off x="1572854" y="3064795"/>
            <a:ext cx="330394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E04C23-6986-BB7E-7C8D-1FF483C78452}"/>
              </a:ext>
            </a:extLst>
          </p:cNvPr>
          <p:cNvSpPr txBox="1"/>
          <p:nvPr/>
        </p:nvSpPr>
        <p:spPr>
          <a:xfrm>
            <a:off x="2183344" y="2864739"/>
            <a:ext cx="3531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B97E41-81D0-DB83-35DB-AE7FF8C76512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81100" y="663338"/>
            <a:ext cx="6536055" cy="752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10"/>
              </a:spcBef>
            </a:pPr>
            <a:r>
              <a:rPr sz="4800" u="none" spc="114" dirty="0"/>
              <a:t>Problem</a:t>
            </a:r>
            <a:r>
              <a:rPr sz="4800" u="none" spc="170" dirty="0"/>
              <a:t> </a:t>
            </a:r>
            <a:r>
              <a:rPr sz="4800" u="none" spc="13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1100" y="1412985"/>
            <a:ext cx="15925800" cy="7286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Graph-Based Intrusion Detection Systems have achieved remarkable success in accurately identifying malicious network activities. However, these systems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 all detected attacks with equal importance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generating hundreds or thousands of alerts every hour in large-scale enterprise networks. This creates a critical operational challenge for Security Operations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(SOC) analysts who must manually sift through numerous alerts to identify which threats require immediate attention.</a:t>
            </a:r>
          </a:p>
          <a:p>
            <a:pPr algn="just"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Problem: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intrusion detection systems lack an intelligent mechanism to:</a:t>
            </a:r>
          </a:p>
          <a:p>
            <a:pPr algn="just"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attacks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based on their severity, network context, and potential business impact</a:t>
            </a:r>
          </a:p>
          <a:p>
            <a:pPr algn="just"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attack propagation risk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predict how an intrusion might spread through the network</a:t>
            </a:r>
          </a:p>
          <a:p>
            <a:pPr algn="just"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 threat priorities dynamically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historical attack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emerging patterns</a:t>
            </a:r>
          </a:p>
          <a:p>
            <a:pPr algn="just"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explainable prioritization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help analysts understand why certain alerts are critical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F47332-FB61-E4A2-75E7-75FCD682F341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2F0EB6-AF89-4C0A-6758-FD526BCFE1CC}"/>
              </a:ext>
            </a:extLst>
          </p:cNvPr>
          <p:cNvSpPr txBox="1"/>
          <p:nvPr/>
        </p:nvSpPr>
        <p:spPr>
          <a:xfrm>
            <a:off x="762000" y="723900"/>
            <a:ext cx="1348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spc="7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4800" spc="28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Survey	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69A3639-EC18-5564-E561-F715B04F4B02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C60A8B-9AE0-C309-B534-D3CA157F2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273387"/>
              </p:ext>
            </p:extLst>
          </p:nvPr>
        </p:nvGraphicFramePr>
        <p:xfrm>
          <a:off x="685800" y="1688693"/>
          <a:ext cx="16954500" cy="7922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287">
                  <a:extLst>
                    <a:ext uri="{9D8B030D-6E8A-4147-A177-3AD203B41FA5}">
                      <a16:colId xmlns:a16="http://schemas.microsoft.com/office/drawing/2014/main" val="2783837502"/>
                    </a:ext>
                  </a:extLst>
                </a:gridCol>
                <a:gridCol w="3727056">
                  <a:extLst>
                    <a:ext uri="{9D8B030D-6E8A-4147-A177-3AD203B41FA5}">
                      <a16:colId xmlns:a16="http://schemas.microsoft.com/office/drawing/2014/main" val="706877437"/>
                    </a:ext>
                  </a:extLst>
                </a:gridCol>
                <a:gridCol w="3273803">
                  <a:extLst>
                    <a:ext uri="{9D8B030D-6E8A-4147-A177-3AD203B41FA5}">
                      <a16:colId xmlns:a16="http://schemas.microsoft.com/office/drawing/2014/main" val="3243553820"/>
                    </a:ext>
                  </a:extLst>
                </a:gridCol>
                <a:gridCol w="3741490">
                  <a:extLst>
                    <a:ext uri="{9D8B030D-6E8A-4147-A177-3AD203B41FA5}">
                      <a16:colId xmlns:a16="http://schemas.microsoft.com/office/drawing/2014/main" val="3128513845"/>
                    </a:ext>
                  </a:extLst>
                </a:gridCol>
                <a:gridCol w="4676864">
                  <a:extLst>
                    <a:ext uri="{9D8B030D-6E8A-4147-A177-3AD203B41FA5}">
                      <a16:colId xmlns:a16="http://schemas.microsoft.com/office/drawing/2014/main" val="316720320"/>
                    </a:ext>
                  </a:extLst>
                </a:gridCol>
              </a:tblGrid>
              <a:tr h="128071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</a:t>
                      </a:r>
                    </a:p>
                    <a:p>
                      <a:pPr algn="ctr"/>
                      <a:r>
                        <a:rPr lang="en-I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</a:t>
                      </a:r>
                    </a:p>
                    <a:p>
                      <a:pPr algn="ctr"/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Title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  <a:p>
                      <a:pPr algn="ctr"/>
                      <a:endParaRPr lang="en-IN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/ Journal</a:t>
                      </a:r>
                    </a:p>
                    <a:p>
                      <a:pPr algn="ctr"/>
                      <a:endParaRPr lang="en-IN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  <a:p>
                      <a:pPr algn="ctr"/>
                      <a:endParaRPr lang="en-IN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75131"/>
                  </a:ext>
                </a:extLst>
              </a:tr>
              <a:tr h="1876395"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1.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TCG-IDS: Robust Network Intrusion Detection via Temporal Contrastive Graph Learning</a:t>
                      </a:r>
                    </a:p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Cong Wu, </a:t>
                      </a:r>
                      <a:r>
                        <a:rPr lang="en-IN" sz="2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Jianfei</a:t>
                      </a:r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Sun, Jing Chen, Mamoun </a:t>
                      </a:r>
                      <a:r>
                        <a:rPr lang="en-IN" sz="2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Alazab</a:t>
                      </a: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 Liu and Yang Xiang</a:t>
                      </a:r>
                      <a:r>
                        <a:rPr lang="en-IN" sz="2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Information Forensics and Security (TIFS), VOL.20, 2025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0" i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Achieves excellent detection accuracy using self-supervised temporal contrastive learning, but requires enhancement for attack prioritization and SOC decision-support.</a:t>
                      </a: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41760"/>
                  </a:ext>
                </a:extLst>
              </a:tr>
              <a:tr h="1988341"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2.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Handover in 5G-V2X: Detecting and Localizing DoS Attack to Ensure Reliable Communication</a:t>
                      </a: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Meenu Rani Dey, Moumita Patra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Intelligent Transportation Systems, Vol.26, No.6, 2025 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HFR and RLF-based attack detection with multi-class classification for DoS attack localization during handover.</a:t>
                      </a: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07783"/>
                  </a:ext>
                </a:extLst>
              </a:tr>
              <a:tr h="2550748"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</a:t>
                      </a: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3.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Innovative Secure and Privacy-Preserving Federated Learning-Based Hybrid Deep Learning Model for Intrusion Detection in Internet-Enabled Wireless Sensor Networks</a:t>
                      </a: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i-FI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fi-FI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Soumya Ranjan Jena ,et al.</a:t>
                      </a: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Consumer Electronics, Vol.71, No.1, 2025 </a:t>
                      </a:r>
                    </a:p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approach achieves 99.93% accuracy but requires enhancement for scalability in larger IoT deployments.</a:t>
                      </a: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1401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1ADD74F-0608-9965-2F90-C16CDF098717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85F342-B5B4-4DD2-5B03-996E6FE6F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307164"/>
              </p:ext>
            </p:extLst>
          </p:nvPr>
        </p:nvGraphicFramePr>
        <p:xfrm>
          <a:off x="647700" y="1688693"/>
          <a:ext cx="16992600" cy="7787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387">
                  <a:extLst>
                    <a:ext uri="{9D8B030D-6E8A-4147-A177-3AD203B41FA5}">
                      <a16:colId xmlns:a16="http://schemas.microsoft.com/office/drawing/2014/main" val="2783837502"/>
                    </a:ext>
                  </a:extLst>
                </a:gridCol>
                <a:gridCol w="3727056">
                  <a:extLst>
                    <a:ext uri="{9D8B030D-6E8A-4147-A177-3AD203B41FA5}">
                      <a16:colId xmlns:a16="http://schemas.microsoft.com/office/drawing/2014/main" val="706877437"/>
                    </a:ext>
                  </a:extLst>
                </a:gridCol>
                <a:gridCol w="3273803">
                  <a:extLst>
                    <a:ext uri="{9D8B030D-6E8A-4147-A177-3AD203B41FA5}">
                      <a16:colId xmlns:a16="http://schemas.microsoft.com/office/drawing/2014/main" val="3243553820"/>
                    </a:ext>
                  </a:extLst>
                </a:gridCol>
                <a:gridCol w="3741490">
                  <a:extLst>
                    <a:ext uri="{9D8B030D-6E8A-4147-A177-3AD203B41FA5}">
                      <a16:colId xmlns:a16="http://schemas.microsoft.com/office/drawing/2014/main" val="3128513845"/>
                    </a:ext>
                  </a:extLst>
                </a:gridCol>
                <a:gridCol w="4676864">
                  <a:extLst>
                    <a:ext uri="{9D8B030D-6E8A-4147-A177-3AD203B41FA5}">
                      <a16:colId xmlns:a16="http://schemas.microsoft.com/office/drawing/2014/main" val="316720320"/>
                    </a:ext>
                  </a:extLst>
                </a:gridCol>
              </a:tblGrid>
              <a:tr h="128071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</a:t>
                      </a:r>
                    </a:p>
                    <a:p>
                      <a:pPr algn="ctr"/>
                      <a:r>
                        <a:rPr lang="en-I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</a:t>
                      </a:r>
                    </a:p>
                    <a:p>
                      <a:pPr algn="ctr"/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Title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  <a:p>
                      <a:pPr algn="ctr"/>
                      <a:endParaRPr lang="en-IN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/ Journal</a:t>
                      </a:r>
                    </a:p>
                    <a:p>
                      <a:pPr algn="ctr"/>
                      <a:endParaRPr lang="en-IN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1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  <a:p>
                      <a:pPr algn="ctr"/>
                      <a:endParaRPr lang="en-IN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75131"/>
                  </a:ext>
                </a:extLst>
              </a:tr>
              <a:tr h="1876395"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4.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FeCoGraph</a:t>
                      </a:r>
                      <a:r>
                        <a:rPr lang="en-US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Label-Aware Federated Graph Contrastive Learning for Few-Shot Network Intrusion Detection</a:t>
                      </a: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Qinghua Mao, Xi Lin, Wenchao Xu et al.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Information Forensics and Security, Vol.20, 2025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2100" b="0" i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would benefit from alert ranking and prioritization mechanisms.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41760"/>
                  </a:ext>
                </a:extLst>
              </a:tr>
              <a:tr h="1988341"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5.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IF²-STG: Enhancing Intrusion Detection via Interpretable Inter-Flow </a:t>
                      </a:r>
                      <a:r>
                        <a:rPr lang="en-IN" sz="21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Spatio</a:t>
                      </a:r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-Temporal Graphs and Intra-Flow Features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Xiaowei Zhao, </a:t>
                      </a:r>
                      <a:r>
                        <a:rPr lang="en-IN" sz="2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Mingshu</a:t>
                      </a: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He, Liu Yang et al.</a:t>
                      </a:r>
                    </a:p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Network Science and engineering,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Vol.13,2026</a:t>
                      </a: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2100" b="0" i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2100" b="0" i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requires extension for real-time prioritization and propagation risk analysis.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07783"/>
                  </a:ext>
                </a:extLst>
              </a:tr>
              <a:tr h="2550748">
                <a:tc>
                  <a:txBody>
                    <a:bodyPr/>
                    <a:lstStyle/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</a:t>
                      </a:r>
                    </a:p>
                    <a:p>
                      <a:pPr algn="l"/>
                      <a:r>
                        <a:rPr lang="en-IN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6.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CAPTOR: Continuous Adaptive Privacy-Preserving Threat-Oriented Network Intrusion Detection Framework</a:t>
                      </a: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da-DK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da-DK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Bishal Lakha, Janet Layne, Edoardo Serra, et al.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2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Big Data,Vol.12, No.2, 2026</a:t>
                      </a:r>
                      <a:endParaRPr lang="en-IN" sz="2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100" b="0" i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2100" b="0" i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Demonstrates strong online detection with excellent scalability, but would benefit from SOC decision-support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14012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A2CEC33-B863-8F0C-4A7A-6BCC5454DFF4}"/>
              </a:ext>
            </a:extLst>
          </p:cNvPr>
          <p:cNvSpPr txBox="1"/>
          <p:nvPr/>
        </p:nvSpPr>
        <p:spPr>
          <a:xfrm>
            <a:off x="762000" y="723900"/>
            <a:ext cx="1348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spc="7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4800" spc="28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Survey	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545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0FC-937C-63B6-283F-F145BC8C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429" y="831341"/>
            <a:ext cx="13881861" cy="738664"/>
          </a:xfrm>
        </p:spPr>
        <p:txBody>
          <a:bodyPr/>
          <a:lstStyle/>
          <a:p>
            <a:r>
              <a:rPr lang="en-IN" sz="4800" u="none" dirty="0"/>
              <a:t>Research gap Identified: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3BAB4-B865-64FA-0E23-F2695A6CB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066856"/>
            <a:ext cx="16840200" cy="6647974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700" u="none" dirty="0"/>
              <a:t>Existing detection systems generate alerts without determining which attacks require immediate attention. Security analysts receive hundreds of alerts with equal importance, delaying response to critical threats.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700" u="none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700" u="none" dirty="0"/>
              <a:t>High false positive rates overwhelm SOC analysts, causing critical attacks to be delayed while low-priority alerts consume valuable response time.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700" u="none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700" u="none" dirty="0"/>
              <a:t>Network traffic graphs are used only for detection without </a:t>
            </a:r>
            <a:r>
              <a:rPr lang="en-IN" sz="2700" u="none" dirty="0" err="1"/>
              <a:t>analyzing</a:t>
            </a:r>
            <a:r>
              <a:rPr lang="en-IN" sz="2700" u="none" dirty="0"/>
              <a:t> attack spread through interconnected systems.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700" u="none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700" u="none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700" u="none" dirty="0"/>
              <a:t>Detection models show high false positive rates for specific attack types. This is a detection-level issue outside our prioritization scope.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700" u="none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700" u="none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700" u="none" dirty="0"/>
              <a:t>Temporal contrasting is less effective for regular traffic patterns like nightly or weekend activities. This is a limitation of the temporal learning strategy.</a:t>
            </a:r>
          </a:p>
          <a:p>
            <a:pPr algn="just"/>
            <a:endParaRPr lang="en-IN" sz="2700" u="non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3724D-9817-1522-9754-A5BF73606A76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54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0429" y="831341"/>
            <a:ext cx="1388186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u="none" spc="-10" dirty="0"/>
              <a:t>Objectives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28700" y="1998149"/>
            <a:ext cx="16230600" cy="723396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10"/>
              </a:spcBef>
            </a:pPr>
            <a:r>
              <a:rPr lang="en-US" sz="25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</a:t>
            </a:r>
          </a:p>
          <a:p>
            <a:pPr marL="12700" algn="just">
              <a:lnSpc>
                <a:spcPct val="150000"/>
              </a:lnSpc>
              <a:spcBef>
                <a:spcPts val="110"/>
              </a:spcBef>
            </a:pPr>
            <a:r>
              <a:rPr lang="en-US" sz="25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Adaptive Context-Aware Threat Prioritization Framework (ACTPF) that extends TCG-IDS to dynamically prioritize detected cyberattacks based on severity, network context, and security impact.</a:t>
            </a:r>
          </a:p>
          <a:p>
            <a:pPr marL="12700" algn="just">
              <a:lnSpc>
                <a:spcPct val="150000"/>
              </a:lnSpc>
              <a:spcBef>
                <a:spcPts val="110"/>
              </a:spcBef>
            </a:pPr>
            <a:r>
              <a:rPr lang="en-US" sz="25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Objective:</a:t>
            </a:r>
          </a:p>
          <a:p>
            <a:pPr marL="12700" algn="just">
              <a:lnSpc>
                <a:spcPct val="150000"/>
              </a:lnSpc>
              <a:spcBef>
                <a:spcPts val="110"/>
              </a:spcBef>
            </a:pPr>
            <a:r>
              <a:rPr lang="en-US" sz="25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context-aware threat scoring mechanism that combines attack confidence, asset criticality, graph relationships, and temporal attack </a:t>
            </a:r>
            <a:r>
              <a:rPr lang="en-US" sz="2500" u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5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700" algn="just">
              <a:lnSpc>
                <a:spcPct val="150000"/>
              </a:lnSpc>
              <a:spcBef>
                <a:spcPts val="110"/>
              </a:spcBef>
            </a:pPr>
            <a:r>
              <a:rPr lang="en-US" sz="25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Tertiary Objective:</a:t>
            </a:r>
          </a:p>
          <a:p>
            <a:pPr marL="12700" algn="just">
              <a:lnSpc>
                <a:spcPct val="150000"/>
              </a:lnSpc>
              <a:spcBef>
                <a:spcPts val="110"/>
              </a:spcBef>
            </a:pPr>
            <a:r>
              <a:rPr lang="en-US" sz="25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attack propagation analysis module to predict the spread of attacks across interconnected network entities using graph-based relationships.</a:t>
            </a:r>
          </a:p>
          <a:p>
            <a:pPr marL="12700" algn="just">
              <a:lnSpc>
                <a:spcPct val="150000"/>
              </a:lnSpc>
              <a:spcBef>
                <a:spcPts val="110"/>
              </a:spcBef>
            </a:pPr>
            <a:r>
              <a:rPr lang="en-US" sz="25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Objective:</a:t>
            </a:r>
          </a:p>
          <a:p>
            <a:pPr marL="12700" algn="just">
              <a:lnSpc>
                <a:spcPct val="150000"/>
              </a:lnSpc>
              <a:spcBef>
                <a:spcPts val="110"/>
              </a:spcBef>
            </a:pPr>
            <a:r>
              <a:rPr lang="en-US" sz="25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explainable security dashboard that provides prioritized alerts, adaptive risk assessment, and actionable insights to support faster and more effective SOC incident response.</a:t>
            </a:r>
            <a:endParaRPr lang="en-US" sz="2500" u="none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50BC6E-EB18-EEAC-F75F-8F753B76F389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647699"/>
            <a:ext cx="16614532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4800" u="none" dirty="0"/>
              <a:t>Architecture</a:t>
            </a:r>
            <a:r>
              <a:rPr lang="en-US" sz="4800" u="none" dirty="0"/>
              <a:t> of</a:t>
            </a:r>
            <a:r>
              <a:rPr sz="4800" u="none" spc="-60" dirty="0"/>
              <a:t> </a:t>
            </a:r>
            <a:r>
              <a:rPr lang="en-US" sz="48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</a:t>
            </a:r>
            <a:br>
              <a:rPr lang="en-IN" sz="48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800" u="none" spc="-1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C703DB9-B751-1DF5-405E-CB2A8D2F3DAB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2410188-2B9E-882B-EF1B-99D0B8BA4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408431"/>
            <a:ext cx="15621000" cy="81270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9FF8D4-3168-0F19-B6C8-053BDA87D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141878"/>
              </p:ext>
            </p:extLst>
          </p:nvPr>
        </p:nvGraphicFramePr>
        <p:xfrm>
          <a:off x="1066800" y="1790700"/>
          <a:ext cx="16154400" cy="7539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5468219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384916924"/>
                    </a:ext>
                  </a:extLst>
                </a:gridCol>
                <a:gridCol w="9448800">
                  <a:extLst>
                    <a:ext uri="{9D8B030D-6E8A-4147-A177-3AD203B41FA5}">
                      <a16:colId xmlns:a16="http://schemas.microsoft.com/office/drawing/2014/main" val="522728045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Core Method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it Detects the Attack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287934"/>
                  </a:ext>
                </a:extLst>
              </a:tr>
              <a:tr h="135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TCG-IDS (</a:t>
                      </a:r>
                      <a:r>
                        <a:rPr lang="en-IN" sz="2200" b="0" i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Temporal Contrastive Graph Learning)</a:t>
                      </a:r>
                      <a:endParaRPr lang="en-IN" sz="2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Neural Network (GNN) + Temporal Contrastive Learning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network traffic into a graph. The GNN learns relationships between devices over time. If a node or communication pattern deviates from normal graph behavior, it is detected as an attack.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160827"/>
                  </a:ext>
                </a:extLst>
              </a:tr>
              <a:tr h="135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1: Progressive Threat Prioritization Network (PTPN)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Network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Treats network flows as a sequence. The Transformer learns normal traffic </a:t>
                      </a:r>
                      <a:r>
                        <a:rPr lang="en-IN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over time. If a flow's sequence differs from normal patterns, it detects an intrusion and assigns a threat priority score.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295680"/>
                  </a:ext>
                </a:extLst>
              </a:tr>
              <a:tr h="135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2: Temporal Graph Threat Ranking Network (TGTR-Net)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Attention Network (GAT)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a graph of communicating devices. The attention mechanism identifies which </a:t>
                      </a:r>
                      <a:r>
                        <a:rPr lang="en-IN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neighboring</a:t>
                      </a: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nodes have the greatest influence. Abnormal or malicious connections receive higher attention scores and are detected as attacks.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774507"/>
                  </a:ext>
                </a:extLst>
              </a:tr>
              <a:tr h="135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3: Adaptive Confidence Intrusion Detector (ACID-Net)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BiLSTM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extracts important traffic features (packet size, protocol, flow statistics), while </a:t>
                      </a:r>
                      <a:r>
                        <a:rPr lang="en-IN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learns temporal </a:t>
                      </a:r>
                      <a:r>
                        <a:rPr lang="en-IN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If both spatial and temporal patterns are abnormal, the traffic is classified as an attack with a confidence score.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153809"/>
                  </a:ext>
                </a:extLst>
              </a:tr>
              <a:tr h="135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4: Multi-Level Threat Assessment Network (MTAN)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Autoencoder + </a:t>
                      </a:r>
                      <a:r>
                        <a:rPr lang="en-IN" sz="2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IN" sz="2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Autoencoder learns normal network </a:t>
                      </a:r>
                      <a:r>
                        <a:rPr lang="en-IN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Large reconstruction errors indicate anomalies. </a:t>
                      </a:r>
                      <a:r>
                        <a:rPr lang="en-IN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then classifies the anomaly into attack types (DoS, DDoS, Probe, Botnet, etc.) and assigns a severity level.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109129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8E7E92-DCA4-1EBB-05A0-022CE6773BA9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F08C73E-C90A-EECA-C396-083431449DE3}"/>
              </a:ext>
            </a:extLst>
          </p:cNvPr>
          <p:cNvSpPr txBox="1"/>
          <p:nvPr/>
        </p:nvSpPr>
        <p:spPr>
          <a:xfrm>
            <a:off x="1066800" y="767085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</a:p>
        </p:txBody>
      </p:sp>
    </p:spTree>
    <p:extLst>
      <p:ext uri="{BB962C8B-B14F-4D97-AF65-F5344CB8AC3E}">
        <p14:creationId xmlns:p14="http://schemas.microsoft.com/office/powerpoint/2010/main" val="3407338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0429" y="831341"/>
            <a:ext cx="1388186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u="none" dirty="0"/>
              <a:t>Timeline</a:t>
            </a:r>
            <a:r>
              <a:rPr sz="4800" u="none" spc="-50" dirty="0"/>
              <a:t> </a:t>
            </a:r>
            <a:r>
              <a:rPr sz="4800" u="none" spc="-10" dirty="0"/>
              <a:t>Diagram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A77E18-B19F-9E80-532F-1D42FBA3C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755005"/>
              </p:ext>
            </p:extLst>
          </p:nvPr>
        </p:nvGraphicFramePr>
        <p:xfrm>
          <a:off x="931214" y="1710729"/>
          <a:ext cx="16425571" cy="787751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452771">
                  <a:extLst>
                    <a:ext uri="{9D8B030D-6E8A-4147-A177-3AD203B41FA5}">
                      <a16:colId xmlns:a16="http://schemas.microsoft.com/office/drawing/2014/main" val="5696528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424512531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91598596"/>
                    </a:ext>
                  </a:extLst>
                </a:gridCol>
              </a:tblGrid>
              <a:tr h="984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Cumulative Progress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101090"/>
                  </a:ext>
                </a:extLst>
              </a:tr>
              <a:tr h="984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1: Literature Review &amp; Problem Finalization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314576"/>
                  </a:ext>
                </a:extLst>
              </a:tr>
              <a:tr h="984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2: System Design &amp; Base Detection Integration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22314"/>
                  </a:ext>
                </a:extLst>
              </a:tr>
              <a:tr h="984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3: Graph Construction &amp; Core GNN Implementation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Weeks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571667"/>
                  </a:ext>
                </a:extLst>
              </a:tr>
              <a:tr h="984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4: ACTPF Scoring &amp; Propagation Module Development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Weeks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75%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225279"/>
                  </a:ext>
                </a:extLst>
              </a:tr>
              <a:tr h="984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5: Explainable AI &amp; Dashboard Implementation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85%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248891"/>
                  </a:ext>
                </a:extLst>
              </a:tr>
              <a:tr h="984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6: Testing, Integration &amp; Performance Evaluation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95%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932140"/>
                  </a:ext>
                </a:extLst>
              </a:tr>
              <a:tr h="984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7: Final Review, Documentation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516974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0AE686E-E4AC-9B74-830D-576A37486BC9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07897"/>
              </p:ext>
            </p:extLst>
          </p:nvPr>
        </p:nvGraphicFramePr>
        <p:xfrm>
          <a:off x="762000" y="1584112"/>
          <a:ext cx="16687800" cy="78715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21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en-IN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</a:t>
                      </a:r>
                      <a:r>
                        <a:rPr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</a:t>
                      </a:r>
                      <a:r>
                        <a:rPr sz="2500" b="1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5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</a:t>
                      </a:r>
                      <a:endParaRPr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4925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500" b="1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</a:t>
                      </a:r>
                      <a:r>
                        <a:rPr sz="25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  <a:endParaRPr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4925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6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</a:t>
                      </a: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KUMARAN S  </a:t>
                      </a:r>
                      <a:endParaRPr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4925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Provides progressive flow extraction and temporal graph construction framework for early multi-resolution network representation.</a:t>
                      </a:r>
                    </a:p>
                  </a:txBody>
                  <a:tcPr marL="0" marR="0" marT="34925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164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JANARDHANAM B</a:t>
                      </a:r>
                      <a:endParaRPr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6194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Implements hierarchical </a:t>
                      </a:r>
                      <a:r>
                        <a:rPr lang="en-IN" sz="2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spatio</a:t>
                      </a:r>
                      <a:r>
                        <a:rPr lang="en-IN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-temporal graph learning and adaptive detection framework with attention mechanisms.</a:t>
                      </a:r>
                    </a:p>
                    <a:p>
                      <a:pPr algn="ctr"/>
                      <a:endParaRPr lang="en-IN" sz="2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6194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75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GNANENDHIRAN V</a:t>
                      </a:r>
                      <a:endParaRPr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6195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Designs context-aware scoring and propagation analysis framework for dynamic threat prioritization and risk prediction.</a:t>
                      </a:r>
                    </a:p>
                    <a:p>
                      <a:endParaRPr lang="en-IN" sz="2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6195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143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IN" sz="2500" spc="-1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IN" sz="25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NANDHA KUMAR V</a:t>
                      </a:r>
                      <a:endParaRPr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683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72745" marR="368935" lvl="0" indent="36195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explainable AI and SOC dashboard framework for heatmaps, rationales, prioritized alerts, and real-time visualization.</a:t>
                      </a:r>
                    </a:p>
                    <a:p>
                      <a:pPr marL="372745" marR="368935" indent="361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683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4B8450-4ACE-2641-0E19-4A413BE47C0B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bject 2" descr="$PPTXTitle">
            <a:extLst>
              <a:ext uri="{FF2B5EF4-FFF2-40B4-BE49-F238E27FC236}">
                <a16:creationId xmlns:a16="http://schemas.microsoft.com/office/drawing/2014/main" id="{45587A17-8EC9-EF94-96D5-85B4176BAC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2004" y="801576"/>
            <a:ext cx="14199057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800" u="none" spc="-10" dirty="0"/>
              <a:t>Contributions</a:t>
            </a:r>
            <a:endParaRPr sz="4800" u="none"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2004" y="801576"/>
            <a:ext cx="14199057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u="none"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594136"/>
            <a:ext cx="7954645" cy="81163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39395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[1] Q. Mao, X. Lin, W. Xu, Y. Qi, X. Su, G. Li, and J. Li, "</a:t>
            </a:r>
            <a:r>
              <a:rPr lang="en-IN" sz="2000" dirty="0" err="1">
                <a:latin typeface="Times New Roman"/>
                <a:cs typeface="Times New Roman"/>
              </a:rPr>
              <a:t>FeCoGraph</a:t>
            </a:r>
            <a:r>
              <a:rPr lang="en-IN" sz="2000" dirty="0">
                <a:latin typeface="Times New Roman"/>
                <a:cs typeface="Times New Roman"/>
              </a:rPr>
              <a:t>: Label-Aware Federated Graph Contrastive Learning for Few-Shot Network Intrusion Detection," IEEE Transactions on Information Forensics and Security, vol. 20, pp. 1-14, 2025, </a:t>
            </a:r>
            <a:r>
              <a:rPr lang="en-IN" sz="2000" dirty="0" err="1">
                <a:latin typeface="Times New Roman"/>
                <a:cs typeface="Times New Roman"/>
              </a:rPr>
              <a:t>doi</a:t>
            </a:r>
            <a:r>
              <a:rPr lang="en-IN" sz="2000" dirty="0">
                <a:latin typeface="Times New Roman"/>
                <a:cs typeface="Times New Roman"/>
              </a:rPr>
              <a:t>: 10.1109/TIFS.2025.3541890.</a:t>
            </a:r>
          </a:p>
          <a:p>
            <a:pPr marL="12700" marR="239395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endParaRPr lang="en-IN" sz="2000" dirty="0">
              <a:latin typeface="Times New Roman"/>
              <a:cs typeface="Times New Roman"/>
            </a:endParaRPr>
          </a:p>
          <a:p>
            <a:pPr marL="12700" marR="239395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[2] X. Zhao, M. He, L. Yang, J. Zhao, and X. Wang, "IF²-STG: Enhancing Intrusion Detection via Interpretable Inter-Flow </a:t>
            </a:r>
            <a:r>
              <a:rPr lang="en-IN" sz="2000" dirty="0" err="1">
                <a:latin typeface="Times New Roman"/>
                <a:cs typeface="Times New Roman"/>
              </a:rPr>
              <a:t>Spatio</a:t>
            </a:r>
            <a:r>
              <a:rPr lang="en-IN" sz="2000" dirty="0">
                <a:latin typeface="Times New Roman"/>
                <a:cs typeface="Times New Roman"/>
              </a:rPr>
              <a:t>-Temporal Graphs and Intra-Flow Features," IEEE Transactions on Network Science and Engineering, vol. 13, no. 4, pp. 7112-7128, 2026, </a:t>
            </a:r>
            <a:r>
              <a:rPr lang="en-IN" sz="2000" dirty="0" err="1">
                <a:latin typeface="Times New Roman"/>
                <a:cs typeface="Times New Roman"/>
              </a:rPr>
              <a:t>doi</a:t>
            </a:r>
            <a:r>
              <a:rPr lang="en-IN" sz="2000" dirty="0">
                <a:latin typeface="Times New Roman"/>
                <a:cs typeface="Times New Roman"/>
              </a:rPr>
              <a:t>: 10.1109/TNSE.2026.3664905.</a:t>
            </a:r>
          </a:p>
          <a:p>
            <a:pPr marL="12700" marR="239395" indent="358140">
              <a:lnSpc>
                <a:spcPct val="100000"/>
              </a:lnSpc>
              <a:spcBef>
                <a:spcPts val="90"/>
              </a:spcBef>
              <a:buAutoNum type="arabicPlain"/>
              <a:tabLst>
                <a:tab pos="370840" algn="l"/>
              </a:tabLst>
            </a:pPr>
            <a:endParaRPr lang="en-IN" sz="2000" dirty="0">
              <a:latin typeface="Times New Roman"/>
              <a:cs typeface="Times New Roman"/>
            </a:endParaRPr>
          </a:p>
          <a:p>
            <a:pPr marL="12700" marR="239395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[3] M. Wang, N. Yang, and N. Weng, "K-</a:t>
            </a:r>
            <a:r>
              <a:rPr lang="en-IN" sz="2000" dirty="0" err="1">
                <a:latin typeface="Times New Roman"/>
                <a:cs typeface="Times New Roman"/>
              </a:rPr>
              <a:t>GetNID</a:t>
            </a:r>
            <a:r>
              <a:rPr lang="en-IN" sz="2000" dirty="0">
                <a:latin typeface="Times New Roman"/>
                <a:cs typeface="Times New Roman"/>
              </a:rPr>
              <a:t>: Knowledge-Guided Graphs for Early and Transferable Network Intrusion Detection," IEEE Transactions on Information Forensics and Security, vol. 20, pp. 1-14, 2025, </a:t>
            </a:r>
            <a:r>
              <a:rPr lang="en-IN" sz="2000" dirty="0" err="1">
                <a:latin typeface="Times New Roman"/>
                <a:cs typeface="Times New Roman"/>
              </a:rPr>
              <a:t>doi</a:t>
            </a:r>
            <a:r>
              <a:rPr lang="en-IN" sz="2000" dirty="0">
                <a:latin typeface="Times New Roman"/>
                <a:cs typeface="Times New Roman"/>
              </a:rPr>
              <a:t>: 10.1109/TIFS.2025.3565080.</a:t>
            </a:r>
          </a:p>
          <a:p>
            <a:pPr marL="12700" marR="239395" indent="358140">
              <a:lnSpc>
                <a:spcPct val="100000"/>
              </a:lnSpc>
              <a:spcBef>
                <a:spcPts val="90"/>
              </a:spcBef>
              <a:buAutoNum type="arabicPlain"/>
              <a:tabLst>
                <a:tab pos="370840" algn="l"/>
              </a:tabLst>
            </a:pPr>
            <a:endParaRPr lang="en-IN" sz="2000" dirty="0">
              <a:latin typeface="Times New Roman"/>
              <a:cs typeface="Times New Roman"/>
            </a:endParaRPr>
          </a:p>
          <a:p>
            <a:pPr marL="12700" marR="239395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[4] B. Lakha, J. Layne, E. Serra, F. Gullo, and S. </a:t>
            </a:r>
            <a:r>
              <a:rPr lang="en-IN" sz="2000" dirty="0" err="1">
                <a:latin typeface="Times New Roman"/>
                <a:cs typeface="Times New Roman"/>
              </a:rPr>
              <a:t>Jajodia</a:t>
            </a:r>
            <a:r>
              <a:rPr lang="en-IN" sz="2000" dirty="0">
                <a:latin typeface="Times New Roman"/>
                <a:cs typeface="Times New Roman"/>
              </a:rPr>
              <a:t>, "CAPTOR: Cyber Attack Protection via Temporal Online Graph Representation Learning," IEEE Transactions on Information Forensics and Security, vol. 20, pp. 1-14, 2025, </a:t>
            </a:r>
            <a:r>
              <a:rPr lang="en-IN" sz="2000" dirty="0" err="1">
                <a:latin typeface="Times New Roman"/>
                <a:cs typeface="Times New Roman"/>
              </a:rPr>
              <a:t>doi</a:t>
            </a:r>
            <a:r>
              <a:rPr lang="en-IN" sz="2000" dirty="0">
                <a:latin typeface="Times New Roman"/>
                <a:cs typeface="Times New Roman"/>
              </a:rPr>
              <a:t>: 10.1109/TIFS.2025.3565080.</a:t>
            </a:r>
          </a:p>
          <a:p>
            <a:pPr marL="12700" marR="239395" indent="358140">
              <a:lnSpc>
                <a:spcPct val="100000"/>
              </a:lnSpc>
              <a:spcBef>
                <a:spcPts val="90"/>
              </a:spcBef>
              <a:buAutoNum type="arabicPlain"/>
              <a:tabLst>
                <a:tab pos="370840" algn="l"/>
              </a:tabLst>
            </a:pPr>
            <a:endParaRPr lang="en-IN" sz="2000" dirty="0">
              <a:latin typeface="Times New Roman"/>
              <a:cs typeface="Times New Roman"/>
            </a:endParaRPr>
          </a:p>
          <a:p>
            <a:pPr marL="12700" marR="239395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[5] T. Xu, Z. Wen, X. Zhao, Q. Hu, Y. Li, and C. Liu, "GTCN-G: A Residual Graph-Temporal Fusion Network for Imbalanced Intrusion Detection," in Proceedings of the IEEE International Conference on Trust, Security and Privacy in Computing and Communications (</a:t>
            </a:r>
            <a:r>
              <a:rPr lang="en-IN" sz="2000" dirty="0" err="1">
                <a:latin typeface="Times New Roman"/>
                <a:cs typeface="Times New Roman"/>
              </a:rPr>
              <a:t>TrustCom</a:t>
            </a:r>
            <a:r>
              <a:rPr lang="en-IN" sz="2000" dirty="0">
                <a:latin typeface="Times New Roman"/>
                <a:cs typeface="Times New Roman"/>
              </a:rPr>
              <a:t>), 2025, pp. 210-217, </a:t>
            </a:r>
            <a:r>
              <a:rPr lang="en-IN" sz="2000" dirty="0" err="1">
                <a:latin typeface="Times New Roman"/>
                <a:cs typeface="Times New Roman"/>
              </a:rPr>
              <a:t>doi</a:t>
            </a:r>
            <a:r>
              <a:rPr lang="en-IN" sz="2000" dirty="0">
                <a:latin typeface="Times New Roman"/>
                <a:cs typeface="Times New Roman"/>
              </a:rPr>
              <a:t>: 10.1109/TrustCom.2025.3565080.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9268713" y="1553705"/>
            <a:ext cx="7954645" cy="780854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lang="en-IN" u="none" dirty="0"/>
              <a:t>6] E. M. Rudd, F. N. </a:t>
            </a:r>
            <a:r>
              <a:rPr lang="en-IN" u="none" dirty="0" err="1"/>
              <a:t>Ducau</a:t>
            </a:r>
            <a:r>
              <a:rPr lang="en-IN" u="none" dirty="0"/>
              <a:t>, C. Wild, K. Berlin, and R. Harang, “ALOHA: Auxiliary loss optimization for hypothesis augmentation,” in Proc. USENIX </a:t>
            </a:r>
            <a:r>
              <a:rPr lang="en-IN" u="none" dirty="0" err="1"/>
              <a:t>Secur</a:t>
            </a:r>
            <a:r>
              <a:rPr lang="en-IN" u="none" dirty="0"/>
              <a:t>. Symp., Jan. 2019, pp. 303–320. [7] M. Sarhan, S. </a:t>
            </a:r>
            <a:r>
              <a:rPr lang="en-IN" u="none" dirty="0" err="1"/>
              <a:t>Layeghy</a:t>
            </a:r>
            <a:r>
              <a:rPr lang="en-IN" u="none" dirty="0"/>
              <a:t>, and M. Portmann, “Towards a standard feature set for network intrusion detection system datasets,” Mobile </a:t>
            </a:r>
            <a:r>
              <a:rPr lang="en-IN" u="none" dirty="0" err="1"/>
              <a:t>Netw</a:t>
            </a:r>
            <a:r>
              <a:rPr lang="en-IN" u="none" dirty="0"/>
              <a:t>. Appl., vol. 27, no. 1, pp. 357–370, Feb. 2022</a:t>
            </a:r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endParaRPr lang="en-IN" u="none" dirty="0"/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lang="en-IN" u="none" dirty="0"/>
              <a:t>[7] H.-T. Pai, Y.-H. Kang, and W.-C. Chung, "An Interpretable Generalization Mechanism for Accurately Detecting Anomaly and Identifying Networking Intrusion Techniques," IEEE Transactions on Information Forensics and Security, vol. 19, pp. 10300-10314, 2024, </a:t>
            </a:r>
            <a:r>
              <a:rPr lang="en-IN" u="none" dirty="0" err="1"/>
              <a:t>doi</a:t>
            </a:r>
            <a:r>
              <a:rPr lang="en-IN" u="none" dirty="0"/>
              <a:t>: 10.1109/TIFS.2024.3488967.</a:t>
            </a:r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endParaRPr lang="en-IN" u="none" dirty="0"/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lang="en-IN" u="none" dirty="0"/>
              <a:t>8] A. </a:t>
            </a:r>
            <a:r>
              <a:rPr lang="en-IN" u="none" dirty="0" err="1"/>
              <a:t>Boualouache</a:t>
            </a:r>
            <a:r>
              <a:rPr lang="en-IN" u="none" dirty="0"/>
              <a:t> and T. Engel, “A survey on machine learning-based </a:t>
            </a:r>
            <a:r>
              <a:rPr lang="en-IN" u="none" dirty="0" err="1"/>
              <a:t>misbehavior</a:t>
            </a:r>
            <a:r>
              <a:rPr lang="en-IN" u="none" dirty="0"/>
              <a:t> detection systems for 5G and beyond vehicular networks,” IEEE Commun. Surveys Tuts., vol. 25, no. 2, pp. 1128–1172, 2nd Quart., 2023.</a:t>
            </a:r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endParaRPr lang="en-IN" dirty="0"/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lang="en-IN" u="none" dirty="0"/>
              <a:t> [9] S. Anbalagan, G. Raja, S. </a:t>
            </a:r>
            <a:r>
              <a:rPr lang="en-IN" u="none" dirty="0" err="1"/>
              <a:t>Gurumoorthy</a:t>
            </a:r>
            <a:r>
              <a:rPr lang="en-IN" u="none" dirty="0"/>
              <a:t>, R. D. Suresh, and K. Dev, “IIDS: Intelligent intrusion detection system for sustainable development in autonomous vehicles,” IEEE Trans. Intell. Transp. Syst., vol. 24, no. 12, pp. 15866–15875, Dec. 2023.</a:t>
            </a:r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endParaRPr lang="en-IN" dirty="0"/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lang="en-IN" u="none" dirty="0"/>
              <a:t> [10] A. </a:t>
            </a:r>
            <a:r>
              <a:rPr lang="en-IN" u="none" dirty="0" err="1"/>
              <a:t>Boualouache</a:t>
            </a:r>
            <a:r>
              <a:rPr lang="en-IN" u="none" dirty="0"/>
              <a:t>, T. E. T. </a:t>
            </a:r>
            <a:r>
              <a:rPr lang="en-IN" u="none" dirty="0" err="1"/>
              <a:t>Djaidja</a:t>
            </a:r>
            <a:r>
              <a:rPr lang="en-IN" u="none" dirty="0"/>
              <a:t>, S.-M. Senouci, Y. </a:t>
            </a:r>
            <a:r>
              <a:rPr lang="en-IN" u="none" dirty="0" err="1"/>
              <a:t>Ghamri-Doudane</a:t>
            </a:r>
            <a:r>
              <a:rPr lang="en-IN" u="none" dirty="0"/>
              <a:t>, B. Brik, and T. Engel, “Deep learning-based intra-slice attack detection for 5G-V2X sliced networks,” in Proc. IEEE 95th Veh. Technol. Conf., Jun. 2022, pp. 1–5.</a:t>
            </a:r>
            <a:endParaRPr u="none" spc="-1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99B587-2FFE-E3DB-97B8-DDB6D73883C0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51601" y="4029329"/>
            <a:ext cx="635698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800" u="none" spc="525" dirty="0"/>
              <a:t>Than</a:t>
            </a:r>
            <a:r>
              <a:rPr sz="10800" u="none" spc="-15" dirty="0"/>
              <a:t>k</a:t>
            </a:r>
            <a:r>
              <a:rPr sz="10800" u="none" spc="625" dirty="0"/>
              <a:t> </a:t>
            </a:r>
            <a:r>
              <a:rPr sz="10800" u="none" spc="165" dirty="0"/>
              <a:t>you</a:t>
            </a:r>
            <a:endParaRPr sz="10800"/>
          </a:p>
        </p:txBody>
      </p:sp>
      <p:sp>
        <p:nvSpPr>
          <p:cNvPr id="3" name="object 3"/>
          <p:cNvSpPr/>
          <p:nvPr/>
        </p:nvSpPr>
        <p:spPr>
          <a:xfrm>
            <a:off x="4160520" y="6247765"/>
            <a:ext cx="9960610" cy="85725"/>
          </a:xfrm>
          <a:custGeom>
            <a:avLst/>
            <a:gdLst/>
            <a:ahLst/>
            <a:cxnLst/>
            <a:rect l="l" t="t" r="r" b="b"/>
            <a:pathLst>
              <a:path w="9960610" h="85725">
                <a:moveTo>
                  <a:pt x="9960482" y="0"/>
                </a:moveTo>
                <a:lnTo>
                  <a:pt x="0" y="0"/>
                </a:lnTo>
                <a:lnTo>
                  <a:pt x="0" y="85725"/>
                </a:lnTo>
                <a:lnTo>
                  <a:pt x="9960482" y="85725"/>
                </a:lnTo>
                <a:lnTo>
                  <a:pt x="99604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60520" y="3773423"/>
            <a:ext cx="9960610" cy="85725"/>
          </a:xfrm>
          <a:custGeom>
            <a:avLst/>
            <a:gdLst/>
            <a:ahLst/>
            <a:cxnLst/>
            <a:rect l="l" t="t" r="r" b="b"/>
            <a:pathLst>
              <a:path w="9960610" h="85725">
                <a:moveTo>
                  <a:pt x="9960482" y="0"/>
                </a:moveTo>
                <a:lnTo>
                  <a:pt x="0" y="0"/>
                </a:lnTo>
                <a:lnTo>
                  <a:pt x="0" y="85725"/>
                </a:lnTo>
                <a:lnTo>
                  <a:pt x="9960482" y="85725"/>
                </a:lnTo>
                <a:lnTo>
                  <a:pt x="99604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052892-7B7F-08D9-E7CF-42149B4E6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062496"/>
              </p:ext>
            </p:extLst>
          </p:nvPr>
        </p:nvGraphicFramePr>
        <p:xfrm>
          <a:off x="1295400" y="1010986"/>
          <a:ext cx="16154400" cy="82650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30880">
                  <a:extLst>
                    <a:ext uri="{9D8B030D-6E8A-4147-A177-3AD203B41FA5}">
                      <a16:colId xmlns:a16="http://schemas.microsoft.com/office/drawing/2014/main" val="3138518320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1292432528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1315763333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1582608752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3026107063"/>
                    </a:ext>
                  </a:extLst>
                </a:gridCol>
              </a:tblGrid>
              <a:tr h="3350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extLst>
                  <a:ext uri="{0D108BD9-81ED-4DB2-BD59-A6C34878D82A}">
                    <a16:rowId xmlns:a16="http://schemas.microsoft.com/office/drawing/2014/main" val="1436323802"/>
                  </a:ext>
                </a:extLst>
              </a:tr>
              <a:tr h="108833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extLst>
                  <a:ext uri="{0D108BD9-81ED-4DB2-BD59-A6C34878D82A}">
                    <a16:rowId xmlns:a16="http://schemas.microsoft.com/office/drawing/2014/main" val="335902368"/>
                  </a:ext>
                </a:extLst>
              </a:tr>
              <a:tr h="119215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extLst>
                  <a:ext uri="{0D108BD9-81ED-4DB2-BD59-A6C34878D82A}">
                    <a16:rowId xmlns:a16="http://schemas.microsoft.com/office/drawing/2014/main" val="2501237"/>
                  </a:ext>
                </a:extLst>
              </a:tr>
              <a:tr h="129239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extLst>
                  <a:ext uri="{0D108BD9-81ED-4DB2-BD59-A6C34878D82A}">
                    <a16:rowId xmlns:a16="http://schemas.microsoft.com/office/drawing/2014/main" val="3552768374"/>
                  </a:ext>
                </a:extLst>
              </a:tr>
              <a:tr h="1069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extLst>
                  <a:ext uri="{0D108BD9-81ED-4DB2-BD59-A6C34878D82A}">
                    <a16:rowId xmlns:a16="http://schemas.microsoft.com/office/drawing/2014/main" val="909121426"/>
                  </a:ext>
                </a:extLst>
              </a:tr>
              <a:tr h="129239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extLst>
                  <a:ext uri="{0D108BD9-81ED-4DB2-BD59-A6C34878D82A}">
                    <a16:rowId xmlns:a16="http://schemas.microsoft.com/office/drawing/2014/main" val="1769334329"/>
                  </a:ext>
                </a:extLst>
              </a:tr>
              <a:tr h="108833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extLst>
                  <a:ext uri="{0D108BD9-81ED-4DB2-BD59-A6C34878D82A}">
                    <a16:rowId xmlns:a16="http://schemas.microsoft.com/office/drawing/2014/main" val="4058382451"/>
                  </a:ext>
                </a:extLst>
              </a:tr>
              <a:tr h="9064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38" marR="47438" marT="23719" marB="23719" anchor="ctr"/>
                </a:tc>
                <a:extLst>
                  <a:ext uri="{0D108BD9-81ED-4DB2-BD59-A6C34878D82A}">
                    <a16:rowId xmlns:a16="http://schemas.microsoft.com/office/drawing/2014/main" val="20491111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8A2BC5-CD05-5E3B-4B99-D44B5EE45181}"/>
              </a:ext>
            </a:extLst>
          </p:cNvPr>
          <p:cNvCxnSpPr/>
          <p:nvPr/>
        </p:nvCxnSpPr>
        <p:spPr>
          <a:xfrm>
            <a:off x="533400" y="9715500"/>
            <a:ext cx="1722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1305</TotalTime>
  <Words>1926</Words>
  <Application>Microsoft Office PowerPoint</Application>
  <PresentationFormat>Custom</PresentationFormat>
  <Paragraphs>229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DEPARTMENT OF INFORMATION TECHNOLOGY</vt:lpstr>
      <vt:lpstr>Problem Statement</vt:lpstr>
      <vt:lpstr>PowerPoint Presentation</vt:lpstr>
      <vt:lpstr>PowerPoint Presentation</vt:lpstr>
      <vt:lpstr>Research gap Identified:</vt:lpstr>
      <vt:lpstr>Objectives</vt:lpstr>
      <vt:lpstr>Architecture of Proposed framework </vt:lpstr>
      <vt:lpstr>PowerPoint Presentation</vt:lpstr>
      <vt:lpstr>Timeline Diagram</vt:lpstr>
      <vt:lpstr>Contributions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Gnanendhiran V</cp:lastModifiedBy>
  <cp:revision>12</cp:revision>
  <cp:lastPrinted>2026-07-19T19:15:40Z</cp:lastPrinted>
  <dcterms:created xsi:type="dcterms:W3CDTF">2026-07-19T10:02:16Z</dcterms:created>
  <dcterms:modified xsi:type="dcterms:W3CDTF">2026-07-24T09:43:38Z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2026-07-14T00:00:00Z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2026-07-19T00:00:00Z</vt:filetime>
  </property>
  <property fmtid="{D5CDD505-2E9C-101B-9397-08002B2CF9AE}" pid="6" name="Producer">
    <vt:lpwstr>www.ilovepdf.com</vt:lpwstr>
  </property>
</Properties>
</file>