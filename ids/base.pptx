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66" r:id="rId4"/>
    <p:sldId id="258" r:id="rId5"/>
    <p:sldId id="270" r:id="rId6"/>
    <p:sldId id="271" r:id="rId7"/>
    <p:sldId id="272" r:id="rId8"/>
    <p:sldId id="275" r:id="rId9"/>
    <p:sldId id="261" r:id="rId10"/>
    <p:sldId id="274" r:id="rId11"/>
    <p:sldId id="273" r:id="rId12"/>
    <p:sldId id="263" r:id="rId13"/>
    <p:sldId id="265" r:id="rId14"/>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3535"/>
    <a:srgbClr val="80120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2EB04D-E6AF-4D15-87F9-F4D288F96DD5}" v="78" dt="2026-07-23T17:16:44.25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2" d="100"/>
          <a:sy n="52"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FA47762C-98E3-40C3-98FD-B74689A266E7}" type="datetimeFigureOut">
              <a:rPr lang="en-IN" smtClean="0"/>
              <a:t>24-07-2026</a:t>
            </a:fld>
            <a:endParaRPr lang="en-IN"/>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117286E7-39B2-4E7C-BF44-8C24496FC586}" type="slidenum">
              <a:rPr lang="en-IN" smtClean="0"/>
              <a:t>‹#›</a:t>
            </a:fld>
            <a:endParaRPr lang="en-IN"/>
          </a:p>
        </p:txBody>
      </p:sp>
    </p:spTree>
    <p:extLst>
      <p:ext uri="{BB962C8B-B14F-4D97-AF65-F5344CB8AC3E}">
        <p14:creationId xmlns:p14="http://schemas.microsoft.com/office/powerpoint/2010/main" val="2335452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17286E7-39B2-4E7C-BF44-8C24496FC586}" type="slidenum">
              <a:rPr lang="en-IN" smtClean="0"/>
              <a:t>4</a:t>
            </a:fld>
            <a:endParaRPr lang="en-IN"/>
          </a:p>
        </p:txBody>
      </p:sp>
    </p:spTree>
    <p:extLst>
      <p:ext uri="{BB962C8B-B14F-4D97-AF65-F5344CB8AC3E}">
        <p14:creationId xmlns:p14="http://schemas.microsoft.com/office/powerpoint/2010/main" val="10499412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6400" b="0" i="0" u="sng">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3350" b="0" i="0" u="sng">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400" b="0" i="0" u="sng">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350" b="0" i="0" u="sng">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400" b="0" i="0" u="sng">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07143" y="2015489"/>
            <a:ext cx="7816215" cy="6122034"/>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400" b="0" i="0" u="sng">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42544" y="563880"/>
            <a:ext cx="17202785" cy="9153525"/>
          </a:xfrm>
          <a:custGeom>
            <a:avLst/>
            <a:gdLst/>
            <a:ahLst/>
            <a:cxnLst/>
            <a:rect l="l" t="t" r="r" b="b"/>
            <a:pathLst>
              <a:path w="17202785" h="9153525">
                <a:moveTo>
                  <a:pt x="0" y="9153144"/>
                </a:moveTo>
                <a:lnTo>
                  <a:pt x="0" y="0"/>
                </a:lnTo>
                <a:lnTo>
                  <a:pt x="17202785" y="0"/>
                </a:lnTo>
                <a:lnTo>
                  <a:pt x="17202785" y="9153144"/>
                </a:lnTo>
              </a:path>
            </a:pathLst>
          </a:custGeom>
          <a:ln w="36576">
            <a:solidFill>
              <a:srgbClr val="000000"/>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48640" y="594359"/>
            <a:ext cx="17200245" cy="9153525"/>
          </a:xfrm>
          <a:custGeom>
            <a:avLst/>
            <a:gdLst/>
            <a:ahLst/>
            <a:cxnLst/>
            <a:rect l="l" t="t" r="r" b="b"/>
            <a:pathLst>
              <a:path w="17200245" h="9153525">
                <a:moveTo>
                  <a:pt x="0" y="9153144"/>
                </a:moveTo>
                <a:lnTo>
                  <a:pt x="0" y="0"/>
                </a:lnTo>
                <a:lnTo>
                  <a:pt x="17199737" y="0"/>
                </a:lnTo>
                <a:lnTo>
                  <a:pt x="17199737" y="9153144"/>
                </a:lnTo>
              </a:path>
            </a:pathLst>
          </a:custGeom>
          <a:ln w="36576">
            <a:solidFill>
              <a:srgbClr val="000000"/>
            </a:solidFill>
          </a:ln>
        </p:spPr>
        <p:txBody>
          <a:bodyPr wrap="square" lIns="0" tIns="0" rIns="0" bIns="0" rtlCol="0"/>
          <a:lstStyle/>
          <a:p>
            <a:endParaRPr/>
          </a:p>
        </p:txBody>
      </p:sp>
      <p:sp>
        <p:nvSpPr>
          <p:cNvPr id="2" name="Holder 2"/>
          <p:cNvSpPr>
            <a:spLocks noGrp="1"/>
          </p:cNvSpPr>
          <p:nvPr>
            <p:ph type="title"/>
          </p:nvPr>
        </p:nvSpPr>
        <p:spPr>
          <a:xfrm>
            <a:off x="1100429" y="831341"/>
            <a:ext cx="13881861" cy="1021156"/>
          </a:xfrm>
          <a:prstGeom prst="rect">
            <a:avLst/>
          </a:prstGeom>
        </p:spPr>
        <p:txBody>
          <a:bodyPr wrap="square" lIns="0" tIns="0" rIns="0" bIns="0">
            <a:spAutoFit/>
          </a:bodyPr>
          <a:lstStyle>
            <a:lvl1pPr>
              <a:defRPr sz="6400" b="0" i="0" u="sng">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1111097" y="2449448"/>
            <a:ext cx="12270105" cy="5644515"/>
          </a:xfrm>
          <a:prstGeom prst="rect">
            <a:avLst/>
          </a:prstGeom>
        </p:spPr>
        <p:txBody>
          <a:bodyPr wrap="square" lIns="0" tIns="0" rIns="0" bIns="0">
            <a:spAutoFit/>
          </a:bodyPr>
          <a:lstStyle>
            <a:lvl1pPr>
              <a:defRPr sz="3350" b="0" i="0" u="sng">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7/24/2026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62365" y="733348"/>
            <a:ext cx="1220980" cy="1352824"/>
          </a:xfrm>
          <a:prstGeom prst="rect">
            <a:avLst/>
          </a:prstGeom>
        </p:spPr>
      </p:pic>
      <p:pic>
        <p:nvPicPr>
          <p:cNvPr id="3" name="object 3"/>
          <p:cNvPicPr/>
          <p:nvPr/>
        </p:nvPicPr>
        <p:blipFill>
          <a:blip r:embed="rId3" cstate="print"/>
          <a:stretch>
            <a:fillRect/>
          </a:stretch>
        </p:blipFill>
        <p:spPr>
          <a:xfrm>
            <a:off x="15520415" y="865632"/>
            <a:ext cx="1786127" cy="1161287"/>
          </a:xfrm>
          <a:prstGeom prst="rect">
            <a:avLst/>
          </a:prstGeom>
        </p:spPr>
      </p:pic>
      <p:sp>
        <p:nvSpPr>
          <p:cNvPr id="4" name="object 4" descr="$PPTXTitle"/>
          <p:cNvSpPr txBox="1">
            <a:spLocks noGrp="1"/>
          </p:cNvSpPr>
          <p:nvPr>
            <p:ph type="title"/>
          </p:nvPr>
        </p:nvSpPr>
        <p:spPr>
          <a:xfrm>
            <a:off x="1100429" y="831341"/>
            <a:ext cx="13881861" cy="566822"/>
          </a:xfrm>
          <a:prstGeom prst="rect">
            <a:avLst/>
          </a:prstGeom>
        </p:spPr>
        <p:txBody>
          <a:bodyPr vert="horz" wrap="square" lIns="0" tIns="12700" rIns="0" bIns="0" rtlCol="0">
            <a:spAutoFit/>
          </a:bodyPr>
          <a:lstStyle/>
          <a:p>
            <a:pPr marL="2277110" algn="ctr">
              <a:lnSpc>
                <a:spcPct val="100000"/>
              </a:lnSpc>
              <a:spcBef>
                <a:spcPts val="100"/>
              </a:spcBef>
            </a:pPr>
            <a:r>
              <a:rPr sz="3600" b="1" u="none" dirty="0">
                <a:latin typeface="Times New Roman" panose="02020603050405020304" pitchFamily="18" charset="0"/>
                <a:cs typeface="Times New Roman" panose="02020603050405020304" pitchFamily="18" charset="0"/>
              </a:rPr>
              <a:t>DEPARTMENT</a:t>
            </a:r>
            <a:r>
              <a:rPr sz="3600" b="1" u="none" spc="55" dirty="0">
                <a:latin typeface="Times New Roman" panose="02020603050405020304" pitchFamily="18" charset="0"/>
                <a:cs typeface="Times New Roman" panose="02020603050405020304" pitchFamily="18" charset="0"/>
              </a:rPr>
              <a:t> </a:t>
            </a:r>
            <a:r>
              <a:rPr sz="3600" b="1" u="none" dirty="0">
                <a:latin typeface="Times New Roman" panose="02020603050405020304" pitchFamily="18" charset="0"/>
                <a:cs typeface="Times New Roman" panose="02020603050405020304" pitchFamily="18" charset="0"/>
              </a:rPr>
              <a:t>OF</a:t>
            </a:r>
            <a:r>
              <a:rPr sz="3600" b="1" u="none" spc="25" dirty="0">
                <a:latin typeface="Times New Roman" panose="02020603050405020304" pitchFamily="18" charset="0"/>
                <a:cs typeface="Times New Roman" panose="02020603050405020304" pitchFamily="18" charset="0"/>
              </a:rPr>
              <a:t> </a:t>
            </a:r>
            <a:r>
              <a:rPr sz="3600" b="1" u="none" dirty="0">
                <a:latin typeface="Times New Roman" panose="02020603050405020304" pitchFamily="18" charset="0"/>
                <a:cs typeface="Times New Roman" panose="02020603050405020304" pitchFamily="18" charset="0"/>
              </a:rPr>
              <a:t>INFORMATION</a:t>
            </a:r>
            <a:r>
              <a:rPr sz="3600" b="1" u="none" spc="50" dirty="0">
                <a:latin typeface="Times New Roman" panose="02020603050405020304" pitchFamily="18" charset="0"/>
                <a:cs typeface="Times New Roman" panose="02020603050405020304" pitchFamily="18" charset="0"/>
              </a:rPr>
              <a:t> </a:t>
            </a:r>
            <a:r>
              <a:rPr sz="3600" b="1" u="none" spc="-10" dirty="0">
                <a:latin typeface="Times New Roman" panose="02020603050405020304" pitchFamily="18" charset="0"/>
                <a:cs typeface="Times New Roman" panose="02020603050405020304" pitchFamily="18" charset="0"/>
              </a:rPr>
              <a:t>TECHNOLOGY</a:t>
            </a:r>
            <a:endParaRPr sz="36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7106793" y="2010232"/>
            <a:ext cx="3623310" cy="483234"/>
          </a:xfrm>
          <a:prstGeom prst="rect">
            <a:avLst/>
          </a:prstGeom>
        </p:spPr>
        <p:txBody>
          <a:bodyPr vert="horz" wrap="square" lIns="0" tIns="12700" rIns="0" bIns="0" rtlCol="0">
            <a:spAutoFit/>
          </a:bodyPr>
          <a:lstStyle/>
          <a:p>
            <a:pPr marL="12700">
              <a:lnSpc>
                <a:spcPct val="100000"/>
              </a:lnSpc>
              <a:spcBef>
                <a:spcPts val="100"/>
              </a:spcBef>
            </a:pPr>
            <a:r>
              <a:rPr sz="3000" b="1" dirty="0">
                <a:latin typeface="Times New Roman" panose="02020603050405020304" pitchFamily="18" charset="0"/>
                <a:cs typeface="Times New Roman" panose="02020603050405020304" pitchFamily="18" charset="0"/>
              </a:rPr>
              <a:t>ANNA</a:t>
            </a:r>
            <a:r>
              <a:rPr sz="3000" b="1" spc="70" dirty="0">
                <a:latin typeface="Times New Roman" panose="02020603050405020304" pitchFamily="18" charset="0"/>
                <a:cs typeface="Times New Roman" panose="02020603050405020304" pitchFamily="18" charset="0"/>
              </a:rPr>
              <a:t> </a:t>
            </a:r>
            <a:r>
              <a:rPr sz="3000" b="1" spc="-10" dirty="0">
                <a:latin typeface="Times New Roman" panose="02020603050405020304" pitchFamily="18" charset="0"/>
                <a:cs typeface="Times New Roman" panose="02020603050405020304" pitchFamily="18" charset="0"/>
              </a:rPr>
              <a:t>UNIVERSITY</a:t>
            </a:r>
            <a:endParaRPr sz="3000" dirty="0">
              <a:latin typeface="Times New Roman" panose="02020603050405020304" pitchFamily="18" charset="0"/>
              <a:cs typeface="Times New Roman" panose="02020603050405020304" pitchFamily="18" charset="0"/>
            </a:endParaRPr>
          </a:p>
        </p:txBody>
      </p:sp>
      <p:sp>
        <p:nvSpPr>
          <p:cNvPr id="6" name="object 6"/>
          <p:cNvSpPr txBox="1"/>
          <p:nvPr/>
        </p:nvSpPr>
        <p:spPr>
          <a:xfrm>
            <a:off x="1447800" y="6229626"/>
            <a:ext cx="6223305" cy="2841804"/>
          </a:xfrm>
          <a:prstGeom prst="rect">
            <a:avLst/>
          </a:prstGeom>
        </p:spPr>
        <p:txBody>
          <a:bodyPr vert="horz" wrap="square" lIns="0" tIns="243840" rIns="0" bIns="0" rtlCol="0">
            <a:spAutoFit/>
          </a:bodyPr>
          <a:lstStyle/>
          <a:p>
            <a:pPr marL="12700">
              <a:lnSpc>
                <a:spcPct val="100000"/>
              </a:lnSpc>
              <a:spcBef>
                <a:spcPts val="1920"/>
              </a:spcBef>
            </a:pPr>
            <a:r>
              <a:rPr sz="3000" b="1" dirty="0">
                <a:latin typeface="Times New Roman" panose="02020603050405020304" pitchFamily="18" charset="0"/>
                <a:cs typeface="Times New Roman" panose="02020603050405020304" pitchFamily="18" charset="0"/>
              </a:rPr>
              <a:t>TEAM</a:t>
            </a:r>
            <a:r>
              <a:rPr sz="3000" b="1" spc="40" dirty="0">
                <a:latin typeface="Times New Roman" panose="02020603050405020304" pitchFamily="18" charset="0"/>
                <a:cs typeface="Times New Roman" panose="02020603050405020304" pitchFamily="18" charset="0"/>
              </a:rPr>
              <a:t> </a:t>
            </a:r>
            <a:r>
              <a:rPr sz="3000" b="1" spc="-10" dirty="0">
                <a:latin typeface="Times New Roman" panose="02020603050405020304" pitchFamily="18" charset="0"/>
                <a:cs typeface="Times New Roman" panose="02020603050405020304" pitchFamily="18" charset="0"/>
              </a:rPr>
              <a:t>MEMBERS</a:t>
            </a:r>
            <a:endParaRPr sz="3000" dirty="0">
              <a:latin typeface="Times New Roman" panose="02020603050405020304" pitchFamily="18" charset="0"/>
              <a:cs typeface="Times New Roman" panose="02020603050405020304" pitchFamily="18" charset="0"/>
            </a:endParaRPr>
          </a:p>
          <a:p>
            <a:pPr marL="374650" indent="-361950">
              <a:lnSpc>
                <a:spcPct val="100000"/>
              </a:lnSpc>
              <a:spcBef>
                <a:spcPts val="1710"/>
              </a:spcBef>
              <a:buAutoNum type="arabicPeriod"/>
              <a:tabLst>
                <a:tab pos="374650" algn="l"/>
              </a:tabLst>
            </a:pPr>
            <a:r>
              <a:rPr lang="en-US" sz="2800" spc="85" dirty="0">
                <a:latin typeface="Times New Roman" panose="02020603050405020304" pitchFamily="18" charset="0"/>
                <a:cs typeface="Times New Roman" panose="02020603050405020304" pitchFamily="18" charset="0"/>
              </a:rPr>
              <a:t>Kumaran S</a:t>
            </a:r>
            <a:r>
              <a:rPr sz="2800" spc="-10" dirty="0">
                <a:latin typeface="Times New Roman" panose="02020603050405020304" pitchFamily="18" charset="0"/>
                <a:cs typeface="Times New Roman" panose="02020603050405020304" pitchFamily="18" charset="0"/>
              </a:rPr>
              <a:t>(20235060</a:t>
            </a:r>
            <a:r>
              <a:rPr lang="en-US" sz="2800" spc="-10" dirty="0">
                <a:latin typeface="Times New Roman" panose="02020603050405020304" pitchFamily="18" charset="0"/>
                <a:cs typeface="Times New Roman" panose="02020603050405020304" pitchFamily="18" charset="0"/>
              </a:rPr>
              <a:t>91)</a:t>
            </a:r>
            <a:endParaRPr sz="2800" dirty="0">
              <a:latin typeface="Times New Roman" panose="02020603050405020304" pitchFamily="18" charset="0"/>
              <a:cs typeface="Times New Roman" panose="02020603050405020304" pitchFamily="18" charset="0"/>
            </a:endParaRPr>
          </a:p>
          <a:p>
            <a:pPr marL="374650" indent="-361950">
              <a:lnSpc>
                <a:spcPct val="100000"/>
              </a:lnSpc>
              <a:spcBef>
                <a:spcPts val="484"/>
              </a:spcBef>
              <a:buAutoNum type="arabicPeriod"/>
              <a:tabLst>
                <a:tab pos="374650" algn="l"/>
              </a:tabLst>
            </a:pPr>
            <a:r>
              <a:rPr lang="en-US" sz="2800" spc="114" dirty="0">
                <a:latin typeface="Times New Roman" panose="02020603050405020304" pitchFamily="18" charset="0"/>
                <a:cs typeface="Times New Roman" panose="02020603050405020304" pitchFamily="18" charset="0"/>
              </a:rPr>
              <a:t>Gnanendhiran V</a:t>
            </a:r>
            <a:r>
              <a:rPr lang="en-US" sz="2800" spc="29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(2023506</a:t>
            </a:r>
            <a:r>
              <a:rPr lang="en-US" sz="2800" spc="-10" dirty="0">
                <a:latin typeface="Times New Roman" panose="02020603050405020304" pitchFamily="18" charset="0"/>
                <a:cs typeface="Times New Roman" panose="02020603050405020304" pitchFamily="18" charset="0"/>
              </a:rPr>
              <a:t>103</a:t>
            </a:r>
            <a:r>
              <a:rPr sz="2800" spc="-10" dirty="0">
                <a:latin typeface="Times New Roman" panose="02020603050405020304" pitchFamily="18" charset="0"/>
                <a:cs typeface="Times New Roman" panose="02020603050405020304" pitchFamily="18" charset="0"/>
              </a:rPr>
              <a:t>)</a:t>
            </a:r>
            <a:endParaRPr sz="2800" dirty="0">
              <a:latin typeface="Times New Roman" panose="02020603050405020304" pitchFamily="18" charset="0"/>
              <a:cs typeface="Times New Roman" panose="02020603050405020304" pitchFamily="18" charset="0"/>
            </a:endParaRPr>
          </a:p>
          <a:p>
            <a:pPr marL="374650" indent="-361950">
              <a:lnSpc>
                <a:spcPct val="100000"/>
              </a:lnSpc>
              <a:spcBef>
                <a:spcPts val="500"/>
              </a:spcBef>
              <a:buAutoNum type="arabicPeriod"/>
              <a:tabLst>
                <a:tab pos="374650" algn="l"/>
              </a:tabLst>
            </a:pPr>
            <a:r>
              <a:rPr lang="en-US" sz="2800" spc="175" dirty="0" err="1">
                <a:latin typeface="Times New Roman" panose="02020603050405020304" pitchFamily="18" charset="0"/>
                <a:cs typeface="Times New Roman" panose="02020603050405020304" pitchFamily="18" charset="0"/>
              </a:rPr>
              <a:t>Janardhanam</a:t>
            </a:r>
            <a:r>
              <a:rPr lang="en-US" sz="2800" spc="175" dirty="0">
                <a:latin typeface="Times New Roman" panose="02020603050405020304" pitchFamily="18" charset="0"/>
                <a:cs typeface="Times New Roman" panose="02020603050405020304" pitchFamily="18" charset="0"/>
              </a:rPr>
              <a:t> B</a:t>
            </a:r>
            <a:r>
              <a:rPr sz="2800" spc="13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(2023506</a:t>
            </a:r>
            <a:r>
              <a:rPr lang="en-US" sz="2800" spc="-10" dirty="0">
                <a:latin typeface="Times New Roman" panose="02020603050405020304" pitchFamily="18" charset="0"/>
                <a:cs typeface="Times New Roman" panose="02020603050405020304" pitchFamily="18" charset="0"/>
              </a:rPr>
              <a:t>108</a:t>
            </a:r>
            <a:r>
              <a:rPr sz="2800" spc="-10" dirty="0">
                <a:latin typeface="Times New Roman" panose="02020603050405020304" pitchFamily="18" charset="0"/>
                <a:cs typeface="Times New Roman" panose="02020603050405020304" pitchFamily="18" charset="0"/>
              </a:rPr>
              <a:t>)</a:t>
            </a:r>
            <a:endParaRPr lang="en-US" sz="2800" spc="-10" dirty="0">
              <a:latin typeface="Times New Roman" panose="02020603050405020304" pitchFamily="18" charset="0"/>
              <a:cs typeface="Times New Roman" panose="02020603050405020304" pitchFamily="18" charset="0"/>
            </a:endParaRPr>
          </a:p>
          <a:p>
            <a:pPr marL="374650" indent="-361950">
              <a:lnSpc>
                <a:spcPct val="100000"/>
              </a:lnSpc>
              <a:spcBef>
                <a:spcPts val="500"/>
              </a:spcBef>
              <a:buAutoNum type="arabicPeriod"/>
              <a:tabLst>
                <a:tab pos="374650" algn="l"/>
              </a:tabLst>
            </a:pPr>
            <a:r>
              <a:rPr lang="en-IN" sz="2800" spc="-10" dirty="0">
                <a:latin typeface="Times New Roman" panose="02020603050405020304" pitchFamily="18" charset="0"/>
                <a:cs typeface="Times New Roman" panose="02020603050405020304" pitchFamily="18" charset="0"/>
              </a:rPr>
              <a:t>Nandha Kumar V (2023506308)</a:t>
            </a:r>
            <a:endParaRPr sz="2800" dirty="0">
              <a:latin typeface="Times New Roman" panose="02020603050405020304" pitchFamily="18" charset="0"/>
              <a:cs typeface="Times New Roman" panose="02020603050405020304" pitchFamily="18" charset="0"/>
            </a:endParaRPr>
          </a:p>
        </p:txBody>
      </p:sp>
      <p:sp>
        <p:nvSpPr>
          <p:cNvPr id="7" name="object 7"/>
          <p:cNvSpPr txBox="1"/>
          <p:nvPr/>
        </p:nvSpPr>
        <p:spPr>
          <a:xfrm>
            <a:off x="10896600" y="6229626"/>
            <a:ext cx="7210298" cy="2162130"/>
          </a:xfrm>
          <a:prstGeom prst="rect">
            <a:avLst/>
          </a:prstGeom>
        </p:spPr>
        <p:txBody>
          <a:bodyPr vert="horz" wrap="square" lIns="0" tIns="71120" rIns="0" bIns="0" rtlCol="0">
            <a:spAutoFit/>
          </a:bodyPr>
          <a:lstStyle/>
          <a:p>
            <a:pPr marL="12700">
              <a:lnSpc>
                <a:spcPct val="100000"/>
              </a:lnSpc>
              <a:spcBef>
                <a:spcPts val="560"/>
              </a:spcBef>
            </a:pPr>
            <a:r>
              <a:rPr sz="3000" b="1" dirty="0">
                <a:latin typeface="Times New Roman" panose="02020603050405020304" pitchFamily="18" charset="0"/>
                <a:cs typeface="Times New Roman" panose="02020603050405020304" pitchFamily="18" charset="0"/>
              </a:rPr>
              <a:t>GUIDED</a:t>
            </a:r>
            <a:r>
              <a:rPr sz="3000" b="1" spc="254" dirty="0">
                <a:latin typeface="Times New Roman" panose="02020603050405020304" pitchFamily="18" charset="0"/>
                <a:cs typeface="Times New Roman" panose="02020603050405020304" pitchFamily="18" charset="0"/>
              </a:rPr>
              <a:t> </a:t>
            </a:r>
            <a:r>
              <a:rPr sz="3000" b="1" spc="-25" dirty="0">
                <a:latin typeface="Times New Roman" panose="02020603050405020304" pitchFamily="18" charset="0"/>
                <a:cs typeface="Times New Roman" panose="02020603050405020304" pitchFamily="18" charset="0"/>
              </a:rPr>
              <a:t>BY</a:t>
            </a:r>
            <a:endParaRPr sz="3000" dirty="0">
              <a:latin typeface="Times New Roman" panose="02020603050405020304" pitchFamily="18" charset="0"/>
              <a:cs typeface="Times New Roman" panose="02020603050405020304" pitchFamily="18" charset="0"/>
            </a:endParaRPr>
          </a:p>
          <a:p>
            <a:pPr marL="12700" marR="2772410">
              <a:lnSpc>
                <a:spcPts val="4200"/>
              </a:lnSpc>
              <a:spcBef>
                <a:spcPts val="95"/>
              </a:spcBef>
            </a:pPr>
            <a:r>
              <a:rPr sz="3000" spc="60" dirty="0">
                <a:latin typeface="Times New Roman" panose="02020603050405020304" pitchFamily="18" charset="0"/>
                <a:cs typeface="Times New Roman" panose="02020603050405020304" pitchFamily="18" charset="0"/>
              </a:rPr>
              <a:t>Dr.</a:t>
            </a:r>
            <a:r>
              <a:rPr sz="3000" spc="135" dirty="0">
                <a:latin typeface="Times New Roman" panose="02020603050405020304" pitchFamily="18" charset="0"/>
                <a:cs typeface="Times New Roman" panose="02020603050405020304" pitchFamily="18" charset="0"/>
              </a:rPr>
              <a:t> </a:t>
            </a:r>
            <a:r>
              <a:rPr lang="en-US" sz="3000" spc="90" dirty="0">
                <a:latin typeface="Times New Roman" panose="02020603050405020304" pitchFamily="18" charset="0"/>
                <a:cs typeface="Times New Roman" panose="02020603050405020304" pitchFamily="18" charset="0"/>
              </a:rPr>
              <a:t>G</a:t>
            </a:r>
            <a:r>
              <a:rPr sz="3000" spc="90" dirty="0">
                <a:latin typeface="Times New Roman" panose="02020603050405020304" pitchFamily="18" charset="0"/>
                <a:cs typeface="Times New Roman" panose="02020603050405020304" pitchFamily="18" charset="0"/>
              </a:rPr>
              <a:t>.</a:t>
            </a:r>
            <a:r>
              <a:rPr sz="3000" spc="180" dirty="0">
                <a:latin typeface="Times New Roman" panose="02020603050405020304" pitchFamily="18" charset="0"/>
                <a:cs typeface="Times New Roman" panose="02020603050405020304" pitchFamily="18" charset="0"/>
              </a:rPr>
              <a:t> </a:t>
            </a:r>
            <a:r>
              <a:rPr lang="en-US" sz="3000" spc="180" dirty="0">
                <a:latin typeface="Times New Roman" panose="02020603050405020304" pitchFamily="18" charset="0"/>
                <a:cs typeface="Times New Roman" panose="02020603050405020304" pitchFamily="18" charset="0"/>
              </a:rPr>
              <a:t>Rajesh</a:t>
            </a:r>
          </a:p>
          <a:p>
            <a:pPr marL="12700" marR="2772410">
              <a:lnSpc>
                <a:spcPts val="4200"/>
              </a:lnSpc>
              <a:spcBef>
                <a:spcPts val="95"/>
              </a:spcBef>
            </a:pPr>
            <a:r>
              <a:rPr lang="en-IN" sz="3000" spc="-10" dirty="0">
                <a:latin typeface="Times New Roman" panose="02020603050405020304" pitchFamily="18" charset="0"/>
                <a:cs typeface="Times New Roman" panose="02020603050405020304" pitchFamily="18" charset="0"/>
              </a:rPr>
              <a:t>Associate </a:t>
            </a:r>
            <a:r>
              <a:rPr sz="3000" spc="-10" dirty="0">
                <a:latin typeface="Times New Roman" panose="02020603050405020304" pitchFamily="18" charset="0"/>
                <a:cs typeface="Times New Roman" panose="02020603050405020304" pitchFamily="18" charset="0"/>
              </a:rPr>
              <a:t>Professor,</a:t>
            </a:r>
            <a:endParaRPr sz="3000" dirty="0">
              <a:latin typeface="Times New Roman" panose="02020603050405020304" pitchFamily="18" charset="0"/>
              <a:cs typeface="Times New Roman" panose="02020603050405020304" pitchFamily="18" charset="0"/>
            </a:endParaRPr>
          </a:p>
          <a:p>
            <a:pPr marL="12700">
              <a:lnSpc>
                <a:spcPct val="100000"/>
              </a:lnSpc>
              <a:spcBef>
                <a:spcPts val="509"/>
              </a:spcBef>
            </a:pPr>
            <a:r>
              <a:rPr sz="3000" spc="90" dirty="0">
                <a:latin typeface="Times New Roman" panose="02020603050405020304" pitchFamily="18" charset="0"/>
                <a:cs typeface="Times New Roman" panose="02020603050405020304" pitchFamily="18" charset="0"/>
              </a:rPr>
              <a:t>Department</a:t>
            </a:r>
            <a:r>
              <a:rPr sz="3000" spc="315" dirty="0">
                <a:latin typeface="Times New Roman" panose="02020603050405020304" pitchFamily="18" charset="0"/>
                <a:cs typeface="Times New Roman" panose="02020603050405020304" pitchFamily="18" charset="0"/>
              </a:rPr>
              <a:t> </a:t>
            </a:r>
            <a:r>
              <a:rPr sz="3000" dirty="0">
                <a:latin typeface="Times New Roman" panose="02020603050405020304" pitchFamily="18" charset="0"/>
                <a:cs typeface="Times New Roman" panose="02020603050405020304" pitchFamily="18" charset="0"/>
              </a:rPr>
              <a:t>of</a:t>
            </a:r>
            <a:r>
              <a:rPr sz="3000" spc="400" dirty="0">
                <a:latin typeface="Times New Roman" panose="02020603050405020304" pitchFamily="18" charset="0"/>
                <a:cs typeface="Times New Roman" panose="02020603050405020304" pitchFamily="18" charset="0"/>
              </a:rPr>
              <a:t> </a:t>
            </a:r>
            <a:r>
              <a:rPr sz="3000" spc="75" dirty="0">
                <a:latin typeface="Times New Roman" panose="02020603050405020304" pitchFamily="18" charset="0"/>
                <a:cs typeface="Times New Roman" panose="02020603050405020304" pitchFamily="18" charset="0"/>
              </a:rPr>
              <a:t>Information</a:t>
            </a:r>
            <a:r>
              <a:rPr sz="3000" spc="220" dirty="0">
                <a:latin typeface="Times New Roman" panose="02020603050405020304" pitchFamily="18" charset="0"/>
                <a:cs typeface="Times New Roman" panose="02020603050405020304" pitchFamily="18" charset="0"/>
              </a:rPr>
              <a:t> </a:t>
            </a:r>
            <a:r>
              <a:rPr sz="3000" spc="-10" dirty="0">
                <a:latin typeface="Times New Roman" panose="02020603050405020304" pitchFamily="18" charset="0"/>
                <a:cs typeface="Times New Roman" panose="02020603050405020304" pitchFamily="18" charset="0"/>
              </a:rPr>
              <a:t>Technology</a:t>
            </a:r>
            <a:endParaRPr sz="3000" dirty="0">
              <a:latin typeface="Times New Roman" panose="02020603050405020304" pitchFamily="18" charset="0"/>
              <a:cs typeface="Times New Roman" panose="02020603050405020304" pitchFamily="18" charset="0"/>
            </a:endParaRPr>
          </a:p>
        </p:txBody>
      </p:sp>
      <p:sp>
        <p:nvSpPr>
          <p:cNvPr id="9" name="object 9"/>
          <p:cNvSpPr txBox="1"/>
          <p:nvPr/>
        </p:nvSpPr>
        <p:spPr>
          <a:xfrm>
            <a:off x="11332591" y="2746760"/>
            <a:ext cx="5073015" cy="641201"/>
          </a:xfrm>
          <a:prstGeom prst="rect">
            <a:avLst/>
          </a:prstGeom>
        </p:spPr>
        <p:txBody>
          <a:bodyPr vert="horz" wrap="square" lIns="0" tIns="177800" rIns="0" bIns="0" rtlCol="0">
            <a:spAutoFit/>
          </a:bodyPr>
          <a:lstStyle/>
          <a:p>
            <a:pPr algn="ctr">
              <a:lnSpc>
                <a:spcPct val="100000"/>
              </a:lnSpc>
              <a:spcBef>
                <a:spcPts val="1400"/>
              </a:spcBef>
            </a:pPr>
            <a:r>
              <a:rPr sz="3000" b="1" dirty="0">
                <a:latin typeface="Times New Roman" panose="02020603050405020304" pitchFamily="18" charset="0"/>
                <a:cs typeface="Times New Roman" panose="02020603050405020304" pitchFamily="18" charset="0"/>
              </a:rPr>
              <a:t>ACADEMIC</a:t>
            </a:r>
            <a:r>
              <a:rPr sz="3000" b="1" spc="-45" dirty="0">
                <a:latin typeface="Times New Roman" panose="02020603050405020304" pitchFamily="18" charset="0"/>
                <a:cs typeface="Times New Roman" panose="02020603050405020304" pitchFamily="18" charset="0"/>
              </a:rPr>
              <a:t> </a:t>
            </a:r>
            <a:r>
              <a:rPr sz="3000" b="1" dirty="0">
                <a:latin typeface="Times New Roman" panose="02020603050405020304" pitchFamily="18" charset="0"/>
                <a:cs typeface="Times New Roman" panose="02020603050405020304" pitchFamily="18" charset="0"/>
              </a:rPr>
              <a:t>YEAR</a:t>
            </a:r>
            <a:r>
              <a:rPr sz="3000" b="1" spc="-45" dirty="0">
                <a:latin typeface="Times New Roman" panose="02020603050405020304" pitchFamily="18" charset="0"/>
                <a:cs typeface="Times New Roman" panose="02020603050405020304" pitchFamily="18" charset="0"/>
              </a:rPr>
              <a:t> </a:t>
            </a:r>
            <a:r>
              <a:rPr sz="3000" b="1" dirty="0">
                <a:latin typeface="Times New Roman" panose="02020603050405020304" pitchFamily="18" charset="0"/>
                <a:cs typeface="Times New Roman" panose="02020603050405020304" pitchFamily="18" charset="0"/>
              </a:rPr>
              <a:t>2023-</a:t>
            </a:r>
            <a:r>
              <a:rPr sz="3000" b="1" spc="-20" dirty="0">
                <a:latin typeface="Times New Roman" panose="02020603050405020304" pitchFamily="18" charset="0"/>
                <a:cs typeface="Times New Roman" panose="02020603050405020304" pitchFamily="18" charset="0"/>
              </a:rPr>
              <a:t>2027</a:t>
            </a:r>
            <a:endParaRPr sz="3000" dirty="0">
              <a:latin typeface="Times New Roman" panose="02020603050405020304" pitchFamily="18" charset="0"/>
              <a:cs typeface="Times New Roman" panose="02020603050405020304" pitchFamily="18" charset="0"/>
            </a:endParaRPr>
          </a:p>
        </p:txBody>
      </p:sp>
      <p:sp>
        <p:nvSpPr>
          <p:cNvPr id="10" name="object 10"/>
          <p:cNvSpPr txBox="1"/>
          <p:nvPr/>
        </p:nvSpPr>
        <p:spPr>
          <a:xfrm>
            <a:off x="3889248" y="4239830"/>
            <a:ext cx="10058400" cy="996427"/>
          </a:xfrm>
          <a:prstGeom prst="rect">
            <a:avLst/>
          </a:prstGeom>
        </p:spPr>
        <p:txBody>
          <a:bodyPr vert="horz" wrap="square" lIns="0" tIns="11430" rIns="0" bIns="0" rtlCol="0">
            <a:spAutoFit/>
          </a:bodyPr>
          <a:lstStyle/>
          <a:p>
            <a:pPr algn="ctr"/>
            <a:r>
              <a:rPr lang="en-IN" sz="3200" b="1" dirty="0">
                <a:solidFill>
                  <a:srgbClr val="513535"/>
                </a:solidFill>
                <a:latin typeface="Times New Roman" panose="02020603050405020304" pitchFamily="18" charset="0"/>
                <a:cs typeface="Times New Roman" panose="02020603050405020304" pitchFamily="18" charset="0"/>
              </a:rPr>
              <a:t>TCG-IDS: Robust Network Intrusion Detection via Temporal Contrastive Graph Learning</a:t>
            </a:r>
            <a:endParaRPr sz="3200" b="1" dirty="0">
              <a:solidFill>
                <a:srgbClr val="513535"/>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CCB2023A-CCC2-8CDF-8DD2-8D9009A58FC6}"/>
              </a:ext>
            </a:extLst>
          </p:cNvPr>
          <p:cNvSpPr txBox="1"/>
          <p:nvPr/>
        </p:nvSpPr>
        <p:spPr>
          <a:xfrm>
            <a:off x="1572854" y="3064795"/>
            <a:ext cx="3303945" cy="800219"/>
          </a:xfrm>
          <a:prstGeom prst="rect">
            <a:avLst/>
          </a:prstGeom>
          <a:noFill/>
        </p:spPr>
        <p:txBody>
          <a:bodyPr wrap="square" rtlCol="0">
            <a:spAutoFit/>
          </a:bodyPr>
          <a:lstStyle/>
          <a:p>
            <a:pPr algn="ctr"/>
            <a:endParaRPr lang="en-IN" sz="2800" dirty="0">
              <a:solidFill>
                <a:schemeClr val="tx1"/>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CE04C23-6986-BB7E-7C8D-1FF483C78452}"/>
              </a:ext>
            </a:extLst>
          </p:cNvPr>
          <p:cNvSpPr txBox="1"/>
          <p:nvPr/>
        </p:nvSpPr>
        <p:spPr>
          <a:xfrm>
            <a:off x="2183344" y="2864739"/>
            <a:ext cx="4293656"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BASE PAPER REVIEW</a:t>
            </a:r>
          </a:p>
        </p:txBody>
      </p:sp>
      <p:cxnSp>
        <p:nvCxnSpPr>
          <p:cNvPr id="8" name="Straight Connector 7">
            <a:extLst>
              <a:ext uri="{FF2B5EF4-FFF2-40B4-BE49-F238E27FC236}">
                <a16:creationId xmlns:a16="http://schemas.microsoft.com/office/drawing/2014/main" id="{07B97E41-81D0-DB83-35DB-AE7FF8C76512}"/>
              </a:ext>
            </a:extLst>
          </p:cNvPr>
          <p:cNvCxnSpPr/>
          <p:nvPr/>
        </p:nvCxnSpPr>
        <p:spPr>
          <a:xfrm>
            <a:off x="533400" y="9715500"/>
            <a:ext cx="17221200" cy="0"/>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165860" y="1006028"/>
            <a:ext cx="6536055" cy="752770"/>
          </a:xfrm>
          <a:prstGeom prst="rect">
            <a:avLst/>
          </a:prstGeom>
        </p:spPr>
        <p:txBody>
          <a:bodyPr vert="horz" wrap="square" lIns="0" tIns="13970" rIns="0" bIns="0" rtlCol="0">
            <a:spAutoFit/>
          </a:bodyPr>
          <a:lstStyle/>
          <a:p>
            <a:pPr marL="12700" algn="l">
              <a:lnSpc>
                <a:spcPct val="100000"/>
              </a:lnSpc>
              <a:spcBef>
                <a:spcPts val="110"/>
              </a:spcBef>
            </a:pPr>
            <a:r>
              <a:rPr sz="4800" b="1" u="none" spc="114" dirty="0"/>
              <a:t>Problem</a:t>
            </a:r>
            <a:r>
              <a:rPr sz="4800" b="1" u="none" spc="170" dirty="0"/>
              <a:t> </a:t>
            </a:r>
            <a:r>
              <a:rPr sz="4800" b="1" u="none" spc="130" dirty="0"/>
              <a:t>Statement</a:t>
            </a:r>
          </a:p>
        </p:txBody>
      </p:sp>
      <p:sp>
        <p:nvSpPr>
          <p:cNvPr id="3" name="object 3"/>
          <p:cNvSpPr txBox="1"/>
          <p:nvPr/>
        </p:nvSpPr>
        <p:spPr>
          <a:xfrm>
            <a:off x="1165860" y="1758798"/>
            <a:ext cx="15925800" cy="4947188"/>
          </a:xfrm>
          <a:prstGeom prst="rect">
            <a:avLst/>
          </a:prstGeom>
        </p:spPr>
        <p:txBody>
          <a:bodyPr vert="horz" wrap="square" lIns="0" tIns="12065" rIns="0" bIns="0" rtlCol="0">
            <a:spAutoFit/>
          </a:bodyPr>
          <a:lstStyle/>
          <a:p>
            <a:pPr algn="just">
              <a:lnSpc>
                <a:spcPct val="200000"/>
              </a:lnSpc>
            </a:pPr>
            <a:r>
              <a:rPr lang="en-US" sz="2800" dirty="0">
                <a:latin typeface="Times New Roman" panose="02020603050405020304" pitchFamily="18" charset="0"/>
                <a:cs typeface="Times New Roman" panose="02020603050405020304" pitchFamily="18" charset="0"/>
              </a:rPr>
              <a:t>In the era of zero trust security models and next-generation networks (NGN), network nodes may be untrusted even after verification, necessitating continuous validation and scrutiny. Traditional IDS approaches struggle to keep pace with evolving threats due to their reliance on extensive supervised training on labeled datasets. This leads to high false positive rates, low detection accuracy, and failure to provide real-time detection, thereby undermining the security of NGNs.</a:t>
            </a:r>
          </a:p>
          <a:p>
            <a:pPr>
              <a:lnSpc>
                <a:spcPct val="200000"/>
              </a:lnSpc>
            </a:pPr>
            <a:endParaRPr lang="en-IN" sz="24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AEF47332-FB61-E4A2-75E7-75FCD682F341}"/>
              </a:ext>
            </a:extLst>
          </p:cNvPr>
          <p:cNvCxnSpPr/>
          <p:nvPr/>
        </p:nvCxnSpPr>
        <p:spPr>
          <a:xfrm>
            <a:off x="533400" y="9715500"/>
            <a:ext cx="17221200" cy="0"/>
          </a:xfrm>
          <a:prstGeom prst="line">
            <a:avLst/>
          </a:prstGeom>
        </p:spPr>
        <p:style>
          <a:lnRef idx="2">
            <a:schemeClr val="dk1"/>
          </a:lnRef>
          <a:fillRef idx="0">
            <a:schemeClr val="dk1"/>
          </a:fillRef>
          <a:effectRef idx="1">
            <a:schemeClr val="dk1"/>
          </a:effectRef>
          <a:fontRef idx="minor">
            <a:schemeClr val="tx1"/>
          </a:fontRef>
        </p:style>
      </p:cxnSp>
      <p:sp>
        <p:nvSpPr>
          <p:cNvPr id="6" name="TextBox 5">
            <a:extLst>
              <a:ext uri="{FF2B5EF4-FFF2-40B4-BE49-F238E27FC236}">
                <a16:creationId xmlns:a16="http://schemas.microsoft.com/office/drawing/2014/main" id="{626AC076-DD48-9701-C54E-86044C87AEE3}"/>
              </a:ext>
            </a:extLst>
          </p:cNvPr>
          <p:cNvSpPr txBox="1"/>
          <p:nvPr/>
        </p:nvSpPr>
        <p:spPr>
          <a:xfrm>
            <a:off x="1074420" y="6242021"/>
            <a:ext cx="9144000" cy="523220"/>
          </a:xfrm>
          <a:prstGeom prst="rect">
            <a:avLst/>
          </a:prstGeom>
          <a:noFill/>
        </p:spPr>
        <p:txBody>
          <a:bodyPr wrap="square">
            <a:spAutoFit/>
          </a:bodyPr>
          <a:lstStyle/>
          <a:p>
            <a:r>
              <a:rPr lang="en-US" sz="2800" b="1" spc="114" dirty="0">
                <a:latin typeface="Times New Roman" panose="02020603050405020304" pitchFamily="18" charset="0"/>
                <a:cs typeface="Times New Roman" panose="02020603050405020304" pitchFamily="18" charset="0"/>
              </a:rPr>
              <a:t>C</a:t>
            </a:r>
            <a:r>
              <a:rPr lang="en-IN" sz="2800" b="1" spc="114" dirty="0">
                <a:latin typeface="Times New Roman" panose="02020603050405020304" pitchFamily="18" charset="0"/>
                <a:cs typeface="Times New Roman" panose="02020603050405020304" pitchFamily="18" charset="0"/>
              </a:rPr>
              <a:t>ore Problem</a:t>
            </a:r>
            <a:endParaRPr lang="en-IN" sz="2800" b="1" dirty="0"/>
          </a:p>
        </p:txBody>
      </p:sp>
      <p:sp>
        <p:nvSpPr>
          <p:cNvPr id="8" name="TextBox 7">
            <a:extLst>
              <a:ext uri="{FF2B5EF4-FFF2-40B4-BE49-F238E27FC236}">
                <a16:creationId xmlns:a16="http://schemas.microsoft.com/office/drawing/2014/main" id="{7B5EFBEE-44FF-FB94-7AEB-817C408A76AE}"/>
              </a:ext>
            </a:extLst>
          </p:cNvPr>
          <p:cNvSpPr txBox="1"/>
          <p:nvPr/>
        </p:nvSpPr>
        <p:spPr>
          <a:xfrm>
            <a:off x="1135380" y="6765241"/>
            <a:ext cx="16078200" cy="2546338"/>
          </a:xfrm>
          <a:prstGeom prst="rect">
            <a:avLst/>
          </a:prstGeom>
          <a:noFill/>
        </p:spPr>
        <p:txBody>
          <a:bodyPr wrap="square">
            <a:spAutoFit/>
          </a:bodyPr>
          <a:lstStyle/>
          <a:p>
            <a:pPr>
              <a:lnSpc>
                <a:spcPct val="200000"/>
              </a:lnSpc>
            </a:pPr>
            <a:r>
              <a:rPr lang="en-IN" sz="2800" dirty="0">
                <a:latin typeface="Times New Roman" panose="02020603050405020304" pitchFamily="18" charset="0"/>
                <a:cs typeface="Times New Roman" panose="02020603050405020304" pitchFamily="18" charset="0"/>
              </a:rPr>
              <a:t>Existing detection systems stop at generating alerts without determining which attacks require immediate attention. Security analysts receive hundreds of alerts with equal importance, delaying response to critical threats.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A70FC-937C-63B6-283F-F145BC8CA376}"/>
              </a:ext>
            </a:extLst>
          </p:cNvPr>
          <p:cNvSpPr>
            <a:spLocks noGrp="1"/>
          </p:cNvSpPr>
          <p:nvPr>
            <p:ph type="title"/>
          </p:nvPr>
        </p:nvSpPr>
        <p:spPr>
          <a:xfrm>
            <a:off x="914400" y="848965"/>
            <a:ext cx="13881861" cy="738664"/>
          </a:xfrm>
        </p:spPr>
        <p:txBody>
          <a:bodyPr/>
          <a:lstStyle/>
          <a:p>
            <a:r>
              <a:rPr lang="en-IN" sz="4800" u="none" dirty="0"/>
              <a:t>Research gap Identified:</a:t>
            </a:r>
          </a:p>
        </p:txBody>
      </p:sp>
      <p:sp>
        <p:nvSpPr>
          <p:cNvPr id="3" name="Text Placeholder 2">
            <a:extLst>
              <a:ext uri="{FF2B5EF4-FFF2-40B4-BE49-F238E27FC236}">
                <a16:creationId xmlns:a16="http://schemas.microsoft.com/office/drawing/2014/main" id="{3663BAB4-B865-64FA-0E23-F2695A6CB9C5}"/>
              </a:ext>
            </a:extLst>
          </p:cNvPr>
          <p:cNvSpPr>
            <a:spLocks noGrp="1"/>
          </p:cNvSpPr>
          <p:nvPr>
            <p:ph type="body" idx="1"/>
          </p:nvPr>
        </p:nvSpPr>
        <p:spPr>
          <a:xfrm>
            <a:off x="914400" y="1790700"/>
            <a:ext cx="16002000" cy="7352397"/>
          </a:xfrm>
        </p:spPr>
        <p:txBody>
          <a:bodyPr/>
          <a:lstStyle/>
          <a:p>
            <a:pPr algn="just">
              <a:lnSpc>
                <a:spcPct val="200000"/>
              </a:lnSpc>
            </a:pPr>
            <a:r>
              <a:rPr lang="en-US" sz="2700" u="none" dirty="0"/>
              <a:t>1.High false positive rates - "The relatively high FPRs for classes such as DoS (12.61%) and Reconnaissance (8.20%)     highlight areas for improvement" .</a:t>
            </a:r>
          </a:p>
          <a:p>
            <a:pPr algn="just">
              <a:lnSpc>
                <a:spcPct val="200000"/>
              </a:lnSpc>
            </a:pPr>
            <a:r>
              <a:rPr lang="en-US" sz="2700" u="none" dirty="0"/>
              <a:t>2.Periodic patterns not handled - "Temporal contrasting may be less effective in the presence of periodic patterns... nightly or weekend activities" .</a:t>
            </a:r>
          </a:p>
          <a:p>
            <a:pPr algn="just">
              <a:lnSpc>
                <a:spcPct val="200000"/>
              </a:lnSpc>
            </a:pPr>
            <a:r>
              <a:rPr lang="en-US" sz="2700" u="none" dirty="0"/>
              <a:t>3.No comparison with non-GNN methods - "Another limitation is the lack of comparison with existing non-GNN methods" .</a:t>
            </a:r>
          </a:p>
          <a:p>
            <a:pPr algn="just">
              <a:lnSpc>
                <a:spcPct val="200000"/>
              </a:lnSpc>
            </a:pPr>
            <a:r>
              <a:rPr lang="en-US" sz="2700" u="none" dirty="0"/>
              <a:t>4.Lower performance on complex datasets - "The lower performance on NF-UNSW-NB15-v2 dataset compared to NF-CSE-CIC-IDS2018-v2" .</a:t>
            </a:r>
          </a:p>
          <a:p>
            <a:pPr algn="just">
              <a:lnSpc>
                <a:spcPct val="200000"/>
              </a:lnSpc>
            </a:pPr>
            <a:r>
              <a:rPr lang="en-US" sz="2700" u="none" dirty="0"/>
              <a:t>5.Stops at detection (No prioritization) System ends at detector component.</a:t>
            </a:r>
            <a:endParaRPr lang="en-IN" sz="2700" u="none" dirty="0"/>
          </a:p>
        </p:txBody>
      </p:sp>
      <p:cxnSp>
        <p:nvCxnSpPr>
          <p:cNvPr id="4" name="Straight Connector 3">
            <a:extLst>
              <a:ext uri="{FF2B5EF4-FFF2-40B4-BE49-F238E27FC236}">
                <a16:creationId xmlns:a16="http://schemas.microsoft.com/office/drawing/2014/main" id="{BEC3724D-9817-1522-9754-A5BF73606A76}"/>
              </a:ext>
            </a:extLst>
          </p:cNvPr>
          <p:cNvCxnSpPr/>
          <p:nvPr/>
        </p:nvCxnSpPr>
        <p:spPr>
          <a:xfrm>
            <a:off x="533400" y="9715500"/>
            <a:ext cx="17221200"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56545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100429" y="831341"/>
            <a:ext cx="13881861" cy="752129"/>
          </a:xfrm>
          <a:prstGeom prst="rect">
            <a:avLst/>
          </a:prstGeom>
        </p:spPr>
        <p:txBody>
          <a:bodyPr vert="horz" wrap="square" lIns="0" tIns="13335" rIns="0" bIns="0" rtlCol="0">
            <a:spAutoFit/>
          </a:bodyPr>
          <a:lstStyle/>
          <a:p>
            <a:pPr marL="12700">
              <a:lnSpc>
                <a:spcPct val="100000"/>
              </a:lnSpc>
              <a:spcBef>
                <a:spcPts val="105"/>
              </a:spcBef>
            </a:pPr>
            <a:r>
              <a:rPr sz="4800" u="none" spc="-10" dirty="0"/>
              <a:t>Objectives</a:t>
            </a:r>
          </a:p>
        </p:txBody>
      </p:sp>
      <p:sp>
        <p:nvSpPr>
          <p:cNvPr id="3" name="object 3"/>
          <p:cNvSpPr txBox="1">
            <a:spLocks noGrp="1"/>
          </p:cNvSpPr>
          <p:nvPr>
            <p:ph type="body" idx="1"/>
          </p:nvPr>
        </p:nvSpPr>
        <p:spPr>
          <a:xfrm>
            <a:off x="1097931" y="1714500"/>
            <a:ext cx="16230600" cy="7508209"/>
          </a:xfrm>
          <a:prstGeom prst="rect">
            <a:avLst/>
          </a:prstGeom>
        </p:spPr>
        <p:txBody>
          <a:bodyPr vert="horz" wrap="square" lIns="0" tIns="13970" rIns="0" bIns="0" rtlCol="0">
            <a:spAutoFit/>
          </a:bodyPr>
          <a:lstStyle/>
          <a:p>
            <a:pPr marL="12700" algn="just">
              <a:lnSpc>
                <a:spcPct val="150000"/>
              </a:lnSpc>
              <a:spcBef>
                <a:spcPts val="110"/>
              </a:spcBef>
            </a:pPr>
            <a:r>
              <a:rPr lang="en-US" sz="2700" b="1" u="none" dirty="0">
                <a:latin typeface="Times New Roman" panose="02020603050405020304" pitchFamily="18" charset="0"/>
                <a:cs typeface="Times New Roman" panose="02020603050405020304" pitchFamily="18" charset="0"/>
              </a:rPr>
              <a:t>Primary Objective:</a:t>
            </a:r>
          </a:p>
          <a:p>
            <a:pPr marL="12700" algn="just">
              <a:lnSpc>
                <a:spcPct val="150000"/>
              </a:lnSpc>
              <a:spcBef>
                <a:spcPts val="110"/>
              </a:spcBef>
            </a:pPr>
            <a:r>
              <a:rPr lang="en-US" sz="2700" u="none" dirty="0">
                <a:latin typeface="Times New Roman" panose="02020603050405020304" pitchFamily="18" charset="0"/>
                <a:cs typeface="Times New Roman" panose="02020603050405020304" pitchFamily="18" charset="0"/>
              </a:rPr>
              <a:t>Develop a self-supervised learning-based IDS on a temporal contrastive Graph Neural Network (GNN) that learns robust representations of network entities without requiring labeled data.</a:t>
            </a:r>
          </a:p>
          <a:p>
            <a:pPr marL="12700" algn="just">
              <a:lnSpc>
                <a:spcPct val="150000"/>
              </a:lnSpc>
              <a:spcBef>
                <a:spcPts val="110"/>
              </a:spcBef>
            </a:pPr>
            <a:r>
              <a:rPr lang="en-US" sz="2700" b="1" u="none" dirty="0">
                <a:latin typeface="Times New Roman" panose="02020603050405020304" pitchFamily="18" charset="0"/>
                <a:cs typeface="Times New Roman" panose="02020603050405020304" pitchFamily="18" charset="0"/>
              </a:rPr>
              <a:t>Secondary Objective:</a:t>
            </a:r>
          </a:p>
          <a:p>
            <a:pPr marL="12700" algn="just">
              <a:lnSpc>
                <a:spcPct val="150000"/>
              </a:lnSpc>
              <a:spcBef>
                <a:spcPts val="110"/>
              </a:spcBef>
            </a:pPr>
            <a:r>
              <a:rPr lang="en-US" sz="2700" u="none" dirty="0">
                <a:latin typeface="Times New Roman" panose="02020603050405020304" pitchFamily="18" charset="0"/>
                <a:cs typeface="Times New Roman" panose="02020603050405020304" pitchFamily="18" charset="0"/>
              </a:rPr>
              <a:t>Integrate three contrastive learning strategies — temporal contrasting, asymmetric contrasting, and masked contrasting — to capture temporal network dynamics, node relationships, and multi-facet features.</a:t>
            </a:r>
          </a:p>
          <a:p>
            <a:pPr marL="12700" algn="just">
              <a:lnSpc>
                <a:spcPct val="150000"/>
              </a:lnSpc>
              <a:spcBef>
                <a:spcPts val="110"/>
              </a:spcBef>
            </a:pPr>
            <a:r>
              <a:rPr lang="en-US" sz="2700" b="1" u="none" dirty="0">
                <a:latin typeface="Times New Roman" panose="02020603050405020304" pitchFamily="18" charset="0"/>
                <a:cs typeface="Times New Roman" panose="02020603050405020304" pitchFamily="18" charset="0"/>
              </a:rPr>
              <a:t>Tertiary Objective:</a:t>
            </a:r>
          </a:p>
          <a:p>
            <a:pPr marL="12700" algn="just">
              <a:lnSpc>
                <a:spcPct val="150000"/>
              </a:lnSpc>
              <a:spcBef>
                <a:spcPts val="110"/>
              </a:spcBef>
            </a:pPr>
            <a:r>
              <a:rPr lang="en-US" sz="2700" u="none" dirty="0">
                <a:latin typeface="Times New Roman" panose="02020603050405020304" pitchFamily="18" charset="0"/>
                <a:cs typeface="Times New Roman" panose="02020603050405020304" pitchFamily="18" charset="0"/>
              </a:rPr>
              <a:t>Model network traffic as a continuous dynamic graph with temporal encoding to enable real-time, fine-grained detection with minimal false positives.</a:t>
            </a:r>
          </a:p>
          <a:p>
            <a:pPr marL="12700" algn="just">
              <a:lnSpc>
                <a:spcPct val="150000"/>
              </a:lnSpc>
              <a:spcBef>
                <a:spcPts val="110"/>
              </a:spcBef>
            </a:pPr>
            <a:r>
              <a:rPr lang="en-US" sz="2700" b="1" u="none" dirty="0">
                <a:latin typeface="Times New Roman" panose="02020603050405020304" pitchFamily="18" charset="0"/>
                <a:cs typeface="Times New Roman" panose="02020603050405020304" pitchFamily="18" charset="0"/>
              </a:rPr>
              <a:t>Final Objective:</a:t>
            </a:r>
          </a:p>
          <a:p>
            <a:pPr marL="12700" algn="just">
              <a:lnSpc>
                <a:spcPct val="150000"/>
              </a:lnSpc>
              <a:spcBef>
                <a:spcPts val="110"/>
              </a:spcBef>
            </a:pPr>
            <a:r>
              <a:rPr lang="en-US" sz="2700" u="none" dirty="0">
                <a:latin typeface="Times New Roman" panose="02020603050405020304" pitchFamily="18" charset="0"/>
                <a:cs typeface="Times New Roman" panose="02020603050405020304" pitchFamily="18" charset="0"/>
              </a:rPr>
              <a:t>Evaluate the proposed framework on two public benchmark datasets (NF-CSE-CIC-IDS2018-V2 and NF-UNSW-NB15-V2) to demonstrate its effectiveness and efficiency.</a:t>
            </a:r>
            <a:endParaRPr lang="en-US" sz="2700" u="none" spc="-10" dirty="0">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6A50BC6E-EB18-EEAC-F75F-8F753B76F389}"/>
              </a:ext>
            </a:extLst>
          </p:cNvPr>
          <p:cNvCxnSpPr/>
          <p:nvPr/>
        </p:nvCxnSpPr>
        <p:spPr>
          <a:xfrm>
            <a:off x="533400" y="9715500"/>
            <a:ext cx="17221200" cy="0"/>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B8E7E92-DCA4-1EBB-05A0-022CE6773BA9}"/>
              </a:ext>
            </a:extLst>
          </p:cNvPr>
          <p:cNvCxnSpPr/>
          <p:nvPr/>
        </p:nvCxnSpPr>
        <p:spPr>
          <a:xfrm>
            <a:off x="533400" y="9715500"/>
            <a:ext cx="17221200" cy="0"/>
          </a:xfrm>
          <a:prstGeom prst="line">
            <a:avLst/>
          </a:prstGeom>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5FC14E6F-C56B-05C3-BDBD-4E6B0B54EDDD}"/>
              </a:ext>
            </a:extLst>
          </p:cNvPr>
          <p:cNvSpPr txBox="1"/>
          <p:nvPr/>
        </p:nvSpPr>
        <p:spPr>
          <a:xfrm>
            <a:off x="1066800" y="1810659"/>
            <a:ext cx="16508730" cy="3257623"/>
          </a:xfrm>
          <a:prstGeom prst="rect">
            <a:avLst/>
          </a:prstGeom>
          <a:noFill/>
        </p:spPr>
        <p:txBody>
          <a:bodyPr wrap="square">
            <a:spAutoFit/>
          </a:bodyPr>
          <a:lstStyle/>
          <a:p>
            <a:pPr marL="457200" indent="-457200">
              <a:lnSpc>
                <a:spcPct val="200000"/>
              </a:lnSpc>
              <a:buAutoNum type="arabicPeriod"/>
            </a:pPr>
            <a:r>
              <a:rPr lang="en-IN" sz="2400" b="1" dirty="0">
                <a:latin typeface="Times New Roman" panose="02020603050405020304" pitchFamily="18" charset="0"/>
                <a:cs typeface="Times New Roman" panose="02020603050405020304" pitchFamily="18" charset="0"/>
              </a:rPr>
              <a:t>Temporal Contrasting : </a:t>
            </a:r>
          </a:p>
          <a:p>
            <a:pPr marL="342900" indent="-342900" algn="l">
              <a:lnSpc>
                <a:spcPct val="200000"/>
              </a:lnSpc>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  Make node embeddings similar at nearby time steps and different at distant time steps.</a:t>
            </a:r>
          </a:p>
          <a:p>
            <a:pPr marL="342900" indent="-342900" algn="l">
              <a:lnSpc>
                <a:spcPct val="250000"/>
              </a:lnSpc>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  Compares a node's </a:t>
            </a:r>
            <a:r>
              <a:rPr lang="en-IN" sz="2400" dirty="0" err="1">
                <a:latin typeface="Times New Roman" panose="02020603050405020304" pitchFamily="18" charset="0"/>
                <a:cs typeface="Times New Roman" panose="02020603050405020304" pitchFamily="18" charset="0"/>
              </a:rPr>
              <a:t>behavior</a:t>
            </a:r>
            <a:r>
              <a:rPr lang="en-IN" sz="2400" dirty="0">
                <a:latin typeface="Times New Roman" panose="02020603050405020304" pitchFamily="18" charset="0"/>
                <a:cs typeface="Times New Roman" panose="02020603050405020304" pitchFamily="18" charset="0"/>
              </a:rPr>
              <a:t> at different times by pulling together embeddings from close time points while pushing apart            embeddings from far time points. This captures temporal evolution patterns in network </a:t>
            </a:r>
            <a:r>
              <a:rPr lang="en-IN" sz="2400" dirty="0" err="1">
                <a:latin typeface="Times New Roman" panose="02020603050405020304" pitchFamily="18" charset="0"/>
                <a:cs typeface="Times New Roman" panose="02020603050405020304" pitchFamily="18" charset="0"/>
              </a:rPr>
              <a:t>behavior</a:t>
            </a:r>
            <a:r>
              <a:rPr lang="en-IN" sz="2400" dirty="0">
                <a:latin typeface="Times New Roman" panose="02020603050405020304" pitchFamily="18" charset="0"/>
                <a:cs typeface="Times New Roman" panose="02020603050405020304" pitchFamily="18" charset="0"/>
              </a:rPr>
              <a:t>.</a:t>
            </a:r>
          </a:p>
        </p:txBody>
      </p:sp>
      <p:sp>
        <p:nvSpPr>
          <p:cNvPr id="20" name="TextBox 19">
            <a:extLst>
              <a:ext uri="{FF2B5EF4-FFF2-40B4-BE49-F238E27FC236}">
                <a16:creationId xmlns:a16="http://schemas.microsoft.com/office/drawing/2014/main" id="{CE638985-0E31-811A-63DF-B06B709F0CC9}"/>
              </a:ext>
            </a:extLst>
          </p:cNvPr>
          <p:cNvSpPr txBox="1"/>
          <p:nvPr/>
        </p:nvSpPr>
        <p:spPr>
          <a:xfrm>
            <a:off x="1066800" y="5068282"/>
            <a:ext cx="16508730" cy="3626955"/>
          </a:xfrm>
          <a:prstGeom prst="rect">
            <a:avLst/>
          </a:prstGeom>
          <a:noFill/>
        </p:spPr>
        <p:txBody>
          <a:bodyPr wrap="square">
            <a:spAutoFit/>
          </a:bodyPr>
          <a:lstStyle/>
          <a:p>
            <a:pPr>
              <a:lnSpc>
                <a:spcPct val="250000"/>
              </a:lnSpc>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2. Asymmetric Contrasting :</a:t>
            </a:r>
          </a:p>
          <a:p>
            <a:pPr marL="342900" indent="-342900">
              <a:lnSpc>
                <a:spcPct val="250000"/>
              </a:lnSpc>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 Learn relationships between nodes by predicting neighbor embeddings. </a:t>
            </a:r>
          </a:p>
          <a:p>
            <a:pPr marL="342900" indent="-342900">
              <a:lnSpc>
                <a:spcPct val="250000"/>
              </a:lnSpc>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 For each node, predicts its neighbor's embedding and if the prediction is wrong, it indicates an unusual relationship. This captures asymmetric connections in the network and helps identify abnormal interaction patterns.</a:t>
            </a:r>
            <a:endParaRPr lang="en-IN" sz="24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9B0C1FE4-46CC-1472-4C13-01C690C90E45}"/>
              </a:ext>
            </a:extLst>
          </p:cNvPr>
          <p:cNvSpPr txBox="1"/>
          <p:nvPr/>
        </p:nvSpPr>
        <p:spPr>
          <a:xfrm>
            <a:off x="1219200" y="919485"/>
            <a:ext cx="9144000" cy="830997"/>
          </a:xfrm>
          <a:prstGeom prst="rect">
            <a:avLst/>
          </a:prstGeom>
          <a:noFill/>
        </p:spPr>
        <p:txBody>
          <a:bodyPr wrap="square">
            <a:spAutoFit/>
          </a:bodyPr>
          <a:lstStyle/>
          <a:p>
            <a:r>
              <a:rPr lang="en-IN" sz="4800" dirty="0">
                <a:latin typeface="Times New Roman" panose="02020603050405020304" pitchFamily="18" charset="0"/>
                <a:cs typeface="Times New Roman" panose="02020603050405020304" pitchFamily="18" charset="0"/>
              </a:rPr>
              <a:t>Algorithms Used:  </a:t>
            </a:r>
          </a:p>
        </p:txBody>
      </p:sp>
    </p:spTree>
    <p:extLst>
      <p:ext uri="{BB962C8B-B14F-4D97-AF65-F5344CB8AC3E}">
        <p14:creationId xmlns:p14="http://schemas.microsoft.com/office/powerpoint/2010/main" val="3407338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4D8DF92-3E9D-2100-F64F-9144CCBE1CD8}"/>
              </a:ext>
            </a:extLst>
          </p:cNvPr>
          <p:cNvCxnSpPr/>
          <p:nvPr/>
        </p:nvCxnSpPr>
        <p:spPr>
          <a:xfrm>
            <a:off x="533400" y="9715500"/>
            <a:ext cx="17221200" cy="0"/>
          </a:xfrm>
          <a:prstGeom prst="line">
            <a:avLst/>
          </a:prstGeom>
        </p:spPr>
        <p:style>
          <a:lnRef idx="2">
            <a:schemeClr val="dk1"/>
          </a:lnRef>
          <a:fillRef idx="0">
            <a:schemeClr val="dk1"/>
          </a:fillRef>
          <a:effectRef idx="1">
            <a:schemeClr val="dk1"/>
          </a:effectRef>
          <a:fontRef idx="minor">
            <a:schemeClr val="tx1"/>
          </a:fontRef>
        </p:style>
      </p:cxnSp>
      <p:sp>
        <p:nvSpPr>
          <p:cNvPr id="6" name="TextBox 5">
            <a:extLst>
              <a:ext uri="{FF2B5EF4-FFF2-40B4-BE49-F238E27FC236}">
                <a16:creationId xmlns:a16="http://schemas.microsoft.com/office/drawing/2014/main" id="{B90CC370-EA8E-5031-BE03-A04B9D9E4BAF}"/>
              </a:ext>
            </a:extLst>
          </p:cNvPr>
          <p:cNvSpPr txBox="1"/>
          <p:nvPr/>
        </p:nvSpPr>
        <p:spPr>
          <a:xfrm>
            <a:off x="1230630" y="1181100"/>
            <a:ext cx="16508730" cy="3626955"/>
          </a:xfrm>
          <a:prstGeom prst="rect">
            <a:avLst/>
          </a:prstGeom>
          <a:noFill/>
        </p:spPr>
        <p:txBody>
          <a:bodyPr wrap="square">
            <a:spAutoFit/>
          </a:bodyPr>
          <a:lstStyle/>
          <a:p>
            <a:pPr>
              <a:lnSpc>
                <a:spcPct val="250000"/>
              </a:lnSpc>
            </a:pPr>
            <a:r>
              <a:rPr lang="en-US" sz="2400" b="1" dirty="0">
                <a:latin typeface="Times New Roman" panose="02020603050405020304" pitchFamily="18" charset="0"/>
                <a:cs typeface="Times New Roman" panose="02020603050405020304" pitchFamily="18" charset="0"/>
              </a:rPr>
              <a:t>3. Masked Contrasting :</a:t>
            </a:r>
          </a:p>
          <a:p>
            <a:pPr marL="342900" indent="-342900">
              <a:lnSpc>
                <a:spcPct val="250000"/>
              </a:lnSpc>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 Learn multi-facet features by hiding parts of embeddings during training. </a:t>
            </a:r>
          </a:p>
          <a:p>
            <a:pPr marL="342900" indent="-342900">
              <a:lnSpc>
                <a:spcPct val="250000"/>
              </a:lnSpc>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Divides embedding into 4 factors and hides one factor at a time. The model must learn from incomplete information, which improves robustness and generalization</a:t>
            </a:r>
            <a:r>
              <a:rPr lang="en-IN" sz="2400" dirty="0">
                <a:latin typeface="Times New Roman" panose="02020603050405020304" pitchFamily="18" charset="0"/>
                <a:cs typeface="Times New Roman" panose="02020603050405020304" pitchFamily="18" charset="0"/>
              </a:rPr>
              <a:t>.</a:t>
            </a:r>
          </a:p>
        </p:txBody>
      </p:sp>
      <p:sp>
        <p:nvSpPr>
          <p:cNvPr id="8" name="TextBox 7">
            <a:extLst>
              <a:ext uri="{FF2B5EF4-FFF2-40B4-BE49-F238E27FC236}">
                <a16:creationId xmlns:a16="http://schemas.microsoft.com/office/drawing/2014/main" id="{DCC7C66B-48FD-6B04-AAA2-C05490E7E6E1}"/>
              </a:ext>
            </a:extLst>
          </p:cNvPr>
          <p:cNvSpPr txBox="1"/>
          <p:nvPr/>
        </p:nvSpPr>
        <p:spPr>
          <a:xfrm>
            <a:off x="1245870" y="4991100"/>
            <a:ext cx="16508730" cy="3626955"/>
          </a:xfrm>
          <a:prstGeom prst="rect">
            <a:avLst/>
          </a:prstGeom>
          <a:noFill/>
        </p:spPr>
        <p:txBody>
          <a:bodyPr wrap="square">
            <a:spAutoFit/>
          </a:bodyPr>
          <a:lstStyle/>
          <a:p>
            <a:pPr>
              <a:lnSpc>
                <a:spcPct val="250000"/>
              </a:lnSpc>
            </a:pPr>
            <a:r>
              <a:rPr lang="en-US" sz="2400" b="1" dirty="0">
                <a:latin typeface="Times New Roman" panose="02020603050405020304" pitchFamily="18" charset="0"/>
                <a:cs typeface="Times New Roman" panose="02020603050405020304" pitchFamily="18" charset="0"/>
              </a:rPr>
              <a:t>4. </a:t>
            </a:r>
            <a:r>
              <a:rPr lang="en-US" sz="2400" b="1" dirty="0" err="1">
                <a:latin typeface="Times New Roman" panose="02020603050405020304" pitchFamily="18" charset="0"/>
                <a:cs typeface="Times New Roman" panose="02020603050405020304" pitchFamily="18" charset="0"/>
              </a:rPr>
              <a:t>LightGBM</a:t>
            </a:r>
            <a:r>
              <a:rPr lang="en-US" sz="2400" b="1" dirty="0">
                <a:latin typeface="Times New Roman" panose="02020603050405020304" pitchFamily="18" charset="0"/>
                <a:cs typeface="Times New Roman" panose="02020603050405020304" pitchFamily="18" charset="0"/>
              </a:rPr>
              <a:t> Detector : </a:t>
            </a:r>
          </a:p>
          <a:p>
            <a:pPr marL="342900" indent="-342900">
              <a:lnSpc>
                <a:spcPct val="250000"/>
              </a:lnSpc>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Classify nodes as benign or malicious based on learned embeddings. </a:t>
            </a:r>
          </a:p>
          <a:p>
            <a:pPr marL="342900" indent="-342900">
              <a:lnSpc>
                <a:spcPct val="250000"/>
              </a:lnSpc>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Uses learned embeddings as input features and outputs a detection score between 0 and 1. Handles large-scale datasets efficiently with fast training and inference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3495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0EFED5-1D71-0702-E836-9BF03612443F}"/>
              </a:ext>
            </a:extLst>
          </p:cNvPr>
          <p:cNvSpPr txBox="1"/>
          <p:nvPr/>
        </p:nvSpPr>
        <p:spPr>
          <a:xfrm>
            <a:off x="1066800" y="767085"/>
            <a:ext cx="9144000" cy="830997"/>
          </a:xfrm>
          <a:prstGeom prst="rect">
            <a:avLst/>
          </a:prstGeom>
          <a:noFill/>
        </p:spPr>
        <p:txBody>
          <a:bodyPr wrap="square">
            <a:spAutoFit/>
          </a:bodyPr>
          <a:lstStyle/>
          <a:p>
            <a:r>
              <a:rPr lang="en-IN" sz="4800" dirty="0">
                <a:latin typeface="Times New Roman" panose="02020603050405020304" pitchFamily="18" charset="0"/>
                <a:cs typeface="Times New Roman" panose="02020603050405020304" pitchFamily="18" charset="0"/>
              </a:rPr>
              <a:t>Algorithm </a:t>
            </a:r>
          </a:p>
        </p:txBody>
      </p:sp>
      <p:cxnSp>
        <p:nvCxnSpPr>
          <p:cNvPr id="4" name="Straight Connector 3">
            <a:extLst>
              <a:ext uri="{FF2B5EF4-FFF2-40B4-BE49-F238E27FC236}">
                <a16:creationId xmlns:a16="http://schemas.microsoft.com/office/drawing/2014/main" id="{7388F690-F81E-C2BB-5CAA-6D0E465056D2}"/>
              </a:ext>
            </a:extLst>
          </p:cNvPr>
          <p:cNvCxnSpPr/>
          <p:nvPr/>
        </p:nvCxnSpPr>
        <p:spPr>
          <a:xfrm>
            <a:off x="533400" y="9715500"/>
            <a:ext cx="17221200" cy="0"/>
          </a:xfrm>
          <a:prstGeom prst="line">
            <a:avLst/>
          </a:prstGeom>
        </p:spPr>
        <p:style>
          <a:lnRef idx="2">
            <a:schemeClr val="dk1"/>
          </a:lnRef>
          <a:fillRef idx="0">
            <a:schemeClr val="dk1"/>
          </a:fillRef>
          <a:effectRef idx="1">
            <a:schemeClr val="dk1"/>
          </a:effectRef>
          <a:fontRef idx="minor">
            <a:schemeClr val="tx1"/>
          </a:fontRef>
        </p:style>
      </p:cxnSp>
      <p:sp>
        <p:nvSpPr>
          <p:cNvPr id="6" name="TextBox 5">
            <a:extLst>
              <a:ext uri="{FF2B5EF4-FFF2-40B4-BE49-F238E27FC236}">
                <a16:creationId xmlns:a16="http://schemas.microsoft.com/office/drawing/2014/main" id="{3179BC92-130F-BBAC-A6AB-E4D1A47C148B}"/>
              </a:ext>
            </a:extLst>
          </p:cNvPr>
          <p:cNvSpPr txBox="1"/>
          <p:nvPr/>
        </p:nvSpPr>
        <p:spPr>
          <a:xfrm>
            <a:off x="1219200" y="1653931"/>
            <a:ext cx="9144000" cy="7571303"/>
          </a:xfrm>
          <a:prstGeom prst="rect">
            <a:avLst/>
          </a:prstGeom>
          <a:noFill/>
        </p:spPr>
        <p:txBody>
          <a:bodyPr wrap="square">
            <a:spAutoFit/>
          </a:bodyPr>
          <a:lstStyle/>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Input:</a:t>
            </a:r>
          </a:p>
          <a:p>
            <a:r>
              <a:rPr lang="en-IN" sz="2400" dirty="0">
                <a:latin typeface="Times New Roman" panose="02020603050405020304" pitchFamily="18" charset="0"/>
                <a:cs typeface="Times New Roman" panose="02020603050405020304" pitchFamily="18" charset="0"/>
              </a:rPr>
              <a:t>    Sequence of graph snapshots G = {G1, G2, ..., GT},</a:t>
            </a:r>
          </a:p>
          <a:p>
            <a:r>
              <a:rPr lang="en-IN" sz="2400" dirty="0">
                <a:latin typeface="Times New Roman" panose="02020603050405020304" pitchFamily="18" charset="0"/>
                <a:cs typeface="Times New Roman" panose="02020603050405020304" pitchFamily="18" charset="0"/>
              </a:rPr>
              <a:t>    learning rate η,</a:t>
            </a:r>
          </a:p>
          <a:p>
            <a:r>
              <a:rPr lang="en-IN" sz="2400" dirty="0">
                <a:latin typeface="Times New Roman" panose="02020603050405020304" pitchFamily="18" charset="0"/>
                <a:cs typeface="Times New Roman" panose="02020603050405020304" pitchFamily="18" charset="0"/>
              </a:rPr>
              <a:t>    epochs E</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Output:</a:t>
            </a:r>
          </a:p>
          <a:p>
            <a:r>
              <a:rPr lang="en-IN" sz="2400" dirty="0">
                <a:latin typeface="Times New Roman" panose="02020603050405020304" pitchFamily="18" charset="0"/>
                <a:cs typeface="Times New Roman" panose="02020603050405020304" pitchFamily="18" charset="0"/>
              </a:rPr>
              <a:t>    Trained model parameters θ</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for epoch = 1 to E do</a:t>
            </a:r>
          </a:p>
          <a:p>
            <a:r>
              <a:rPr lang="en-IN" sz="2400" dirty="0">
                <a:latin typeface="Times New Roman" panose="02020603050405020304" pitchFamily="18" charset="0"/>
                <a:cs typeface="Times New Roman" panose="02020603050405020304" pitchFamily="18" charset="0"/>
              </a:rPr>
              <a:t>    Initialize gradient accumulators </a:t>
            </a:r>
            <a:r>
              <a:rPr lang="en-IN" sz="2400" dirty="0" err="1">
                <a:latin typeface="Times New Roman" panose="02020603050405020304" pitchFamily="18" charset="0"/>
                <a:cs typeface="Times New Roman" panose="02020603050405020304" pitchFamily="18" charset="0"/>
              </a:rPr>
              <a:t>dθ</a:t>
            </a:r>
            <a:r>
              <a:rPr lang="en-IN" sz="2400" dirty="0">
                <a:latin typeface="Times New Roman" panose="02020603050405020304" pitchFamily="18" charset="0"/>
                <a:cs typeface="Times New Roman" panose="02020603050405020304" pitchFamily="18" charset="0"/>
              </a:rPr>
              <a:t> = 0</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for t = 1 to T do</a:t>
            </a:r>
          </a:p>
          <a:p>
            <a:r>
              <a:rPr lang="en-IN" sz="2400" dirty="0">
                <a:latin typeface="Times New Roman" panose="02020603050405020304" pitchFamily="18" charset="0"/>
                <a:cs typeface="Times New Roman" panose="02020603050405020304" pitchFamily="18" charset="0"/>
              </a:rPr>
              <a:t>        Extract Gt = (Vt, Et, </a:t>
            </a:r>
            <a:r>
              <a:rPr lang="en-IN" sz="2400" dirty="0" err="1">
                <a:latin typeface="Times New Roman" panose="02020603050405020304" pitchFamily="18" charset="0"/>
                <a:cs typeface="Times New Roman" panose="02020603050405020304" pitchFamily="18" charset="0"/>
              </a:rPr>
              <a:t>Xt</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Yt</a:t>
            </a:r>
            <a:r>
              <a:rPr lang="en-IN" sz="2400" dirty="0">
                <a:latin typeface="Times New Roman" panose="02020603050405020304" pitchFamily="18" charset="0"/>
                <a:cs typeface="Times New Roman" panose="02020603050405020304" pitchFamily="18" charset="0"/>
              </a:rPr>
              <a:t>)</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for each node vi ∈ Vt do</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h'i</a:t>
            </a:r>
            <a:r>
              <a:rPr lang="en-IN" sz="2400" dirty="0">
                <a:latin typeface="Times New Roman" panose="02020603050405020304" pitchFamily="18" charset="0"/>
                <a:cs typeface="Times New Roman" panose="02020603050405020304" pitchFamily="18" charset="0"/>
              </a:rPr>
              <a:t> ← TGN(Gt, </a:t>
            </a:r>
            <a:r>
              <a:rPr lang="en-IN" sz="2400" dirty="0" err="1">
                <a:latin typeface="Times New Roman" panose="02020603050405020304" pitchFamily="18" charset="0"/>
                <a:cs typeface="Times New Roman" panose="02020603050405020304" pitchFamily="18" charset="0"/>
              </a:rPr>
              <a:t>Xt</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C60941A-BFE7-8AC9-03B8-971E2A929617}"/>
              </a:ext>
            </a:extLst>
          </p:cNvPr>
          <p:cNvSpPr txBox="1"/>
          <p:nvPr/>
        </p:nvSpPr>
        <p:spPr>
          <a:xfrm>
            <a:off x="9174480" y="1155782"/>
            <a:ext cx="9144000" cy="8125301"/>
          </a:xfrm>
          <a:prstGeom prst="rect">
            <a:avLst/>
          </a:prstGeom>
          <a:noFill/>
        </p:spPr>
        <p:txBody>
          <a:bodyPr wrap="square">
            <a:spAutoFit/>
          </a:bodyPr>
          <a:lstStyle/>
          <a:p>
            <a:r>
              <a:rPr lang="en-IN" sz="2400" dirty="0"/>
              <a:t> </a:t>
            </a:r>
            <a:r>
              <a:rPr lang="en-IN" sz="2400" dirty="0">
                <a:latin typeface="Times New Roman" panose="02020603050405020304" pitchFamily="18" charset="0"/>
                <a:cs typeface="Times New Roman" panose="02020603050405020304" pitchFamily="18" charset="0"/>
              </a:rPr>
              <a:t>for each node vi do</a:t>
            </a:r>
          </a:p>
          <a:p>
            <a:r>
              <a:rPr lang="en-IN" sz="2400" dirty="0">
                <a:latin typeface="Times New Roman" panose="02020603050405020304" pitchFamily="18" charset="0"/>
                <a:cs typeface="Times New Roman" panose="02020603050405020304" pitchFamily="18" charset="0"/>
              </a:rPr>
              <a:t>        for t = 1 to T − max(k, n) do</a:t>
            </a:r>
          </a:p>
          <a:p>
            <a:r>
              <a:rPr lang="en-IN" sz="2400" dirty="0">
                <a:latin typeface="Times New Roman" panose="02020603050405020304" pitchFamily="18" charset="0"/>
                <a:cs typeface="Times New Roman" panose="02020603050405020304" pitchFamily="18" charset="0"/>
              </a:rPr>
              <a:t>            Sample pairs (</a:t>
            </a:r>
            <a:r>
              <a:rPr lang="en-IN" sz="2400" dirty="0" err="1">
                <a:latin typeface="Times New Roman" panose="02020603050405020304" pitchFamily="18" charset="0"/>
                <a:cs typeface="Times New Roman" panose="02020603050405020304" pitchFamily="18" charset="0"/>
              </a:rPr>
              <a:t>h't</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h't+n</a:t>
            </a:r>
            <a:r>
              <a:rPr lang="en-IN" sz="2400" dirty="0">
                <a:latin typeface="Times New Roman" panose="02020603050405020304" pitchFamily="18" charset="0"/>
                <a:cs typeface="Times New Roman" panose="02020603050405020304" pitchFamily="18" charset="0"/>
              </a:rPr>
              <a:t>) and (</a:t>
            </a:r>
            <a:r>
              <a:rPr lang="en-IN" sz="2400" dirty="0" err="1">
                <a:latin typeface="Times New Roman" panose="02020603050405020304" pitchFamily="18" charset="0"/>
                <a:cs typeface="Times New Roman" panose="02020603050405020304" pitchFamily="18" charset="0"/>
              </a:rPr>
              <a:t>h't</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h't</a:t>
            </a:r>
            <a:r>
              <a:rPr lang="en-IN" sz="2400" dirty="0">
                <a:latin typeface="Times New Roman" panose="02020603050405020304" pitchFamily="18" charset="0"/>
                <a:cs typeface="Times New Roman" panose="02020603050405020304" pitchFamily="18" charset="0"/>
              </a:rPr>
              <a:t>−n)</a:t>
            </a:r>
          </a:p>
          <a:p>
            <a:r>
              <a:rPr lang="en-IN" sz="2400" dirty="0">
                <a:latin typeface="Times New Roman" panose="02020603050405020304" pitchFamily="18" charset="0"/>
                <a:cs typeface="Times New Roman" panose="02020603050405020304" pitchFamily="18" charset="0"/>
              </a:rPr>
              <a:t>            Compute temporal contrastive loss </a:t>
            </a:r>
            <a:r>
              <a:rPr lang="en-IN" sz="2400" dirty="0" err="1">
                <a:latin typeface="Times New Roman" panose="02020603050405020304" pitchFamily="18" charset="0"/>
                <a:cs typeface="Times New Roman" panose="02020603050405020304" pitchFamily="18" charset="0"/>
              </a:rPr>
              <a:t>Ltemp</a:t>
            </a:r>
            <a:endParaRPr lang="en-IN" sz="2400" dirty="0">
              <a:latin typeface="Times New Roman" panose="02020603050405020304" pitchFamily="18" charset="0"/>
              <a:cs typeface="Times New Roman" panose="02020603050405020304" pitchFamily="18" charset="0"/>
            </a:endParaRPr>
          </a:p>
          <a:p>
            <a:br>
              <a:rPr lang="en-IN" dirty="0"/>
            </a:br>
            <a:r>
              <a:rPr lang="en-IN" sz="2400" dirty="0">
                <a:latin typeface="Times New Roman" panose="02020603050405020304" pitchFamily="18" charset="0"/>
                <a:cs typeface="Times New Roman" panose="02020603050405020304" pitchFamily="18" charset="0"/>
              </a:rPr>
              <a:t>for each node vi ∈ Vt do</a:t>
            </a:r>
          </a:p>
          <a:p>
            <a:pPr algn="just"/>
            <a:r>
              <a:rPr lang="en-IN" sz="2400" dirty="0">
                <a:latin typeface="Times New Roman" panose="02020603050405020304" pitchFamily="18" charset="0"/>
                <a:cs typeface="Times New Roman" panose="02020603050405020304" pitchFamily="18" charset="0"/>
              </a:rPr>
              <a:t>        for each </a:t>
            </a:r>
            <a:r>
              <a:rPr lang="en-IN" sz="2400" dirty="0" err="1">
                <a:latin typeface="Times New Roman" panose="02020603050405020304" pitchFamily="18" charset="0"/>
                <a:cs typeface="Times New Roman" panose="02020603050405020304" pitchFamily="18" charset="0"/>
              </a:rPr>
              <a:t>neighboring</a:t>
            </a:r>
            <a:r>
              <a:rPr lang="en-IN" sz="2400" dirty="0">
                <a:latin typeface="Times New Roman" panose="02020603050405020304" pitchFamily="18" charset="0"/>
                <a:cs typeface="Times New Roman" panose="02020603050405020304" pitchFamily="18" charset="0"/>
              </a:rPr>
              <a:t> node </a:t>
            </a:r>
            <a:r>
              <a:rPr lang="en-IN" sz="2400" dirty="0" err="1">
                <a:latin typeface="Times New Roman" panose="02020603050405020304" pitchFamily="18" charset="0"/>
                <a:cs typeface="Times New Roman" panose="02020603050405020304" pitchFamily="18" charset="0"/>
              </a:rPr>
              <a:t>v'j</a:t>
            </a:r>
            <a:r>
              <a:rPr lang="en-IN" sz="2400" dirty="0">
                <a:latin typeface="Times New Roman" panose="02020603050405020304" pitchFamily="18" charset="0"/>
                <a:cs typeface="Times New Roman" panose="02020603050405020304" pitchFamily="18" charset="0"/>
              </a:rPr>
              <a:t> ∈ N(vi) do</a:t>
            </a:r>
          </a:p>
          <a:p>
            <a:r>
              <a:rPr lang="en-IN" sz="2400" dirty="0">
                <a:latin typeface="Times New Roman" panose="02020603050405020304" pitchFamily="18" charset="0"/>
                <a:cs typeface="Times New Roman" panose="02020603050405020304" pitchFamily="18" charset="0"/>
              </a:rPr>
              <a:t>            Predict </a:t>
            </a:r>
            <a:r>
              <a:rPr lang="en-IN" sz="2400" dirty="0" err="1">
                <a:latin typeface="Times New Roman" panose="02020603050405020304" pitchFamily="18" charset="0"/>
                <a:cs typeface="Times New Roman" panose="02020603050405020304" pitchFamily="18" charset="0"/>
              </a:rPr>
              <a:t>neighbor</a:t>
            </a:r>
            <a:r>
              <a:rPr lang="en-IN" sz="2400" dirty="0">
                <a:latin typeface="Times New Roman" panose="02020603050405020304" pitchFamily="18" charset="0"/>
                <a:cs typeface="Times New Roman" panose="02020603050405020304" pitchFamily="18" charset="0"/>
              </a:rPr>
              <a:t> embeddings </a:t>
            </a:r>
            <a:r>
              <a:rPr lang="en-IN" sz="2400" dirty="0" err="1">
                <a:latin typeface="Times New Roman" panose="02020603050405020304" pitchFamily="18" charset="0"/>
                <a:cs typeface="Times New Roman" panose="02020603050405020304" pitchFamily="18" charset="0"/>
              </a:rPr>
              <a:t>ĥ'j</a:t>
            </a:r>
            <a:r>
              <a:rPr lang="en-IN" sz="2400" dirty="0">
                <a:latin typeface="Times New Roman" panose="02020603050405020304" pitchFamily="18" charset="0"/>
                <a:cs typeface="Times New Roman" panose="02020603050405020304" pitchFamily="18" charset="0"/>
              </a:rPr>
              <a:t> ← </a:t>
            </a:r>
            <a:r>
              <a:rPr lang="en-IN" sz="2400" dirty="0" err="1">
                <a:latin typeface="Times New Roman" panose="02020603050405020304" pitchFamily="18" charset="0"/>
                <a:cs typeface="Times New Roman" panose="02020603050405020304" pitchFamily="18" charset="0"/>
              </a:rPr>
              <a:t>fθ</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h'i</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Compute asymmetric contrastive loss </a:t>
            </a:r>
            <a:r>
              <a:rPr lang="en-IN" sz="2400" dirty="0" err="1">
                <a:latin typeface="Times New Roman" panose="02020603050405020304" pitchFamily="18" charset="0"/>
                <a:cs typeface="Times New Roman" panose="02020603050405020304" pitchFamily="18" charset="0"/>
              </a:rPr>
              <a:t>Lasym</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for each node vi ∈ Vt do</a:t>
            </a:r>
          </a:p>
          <a:p>
            <a:r>
              <a:rPr lang="en-IN" sz="2400" dirty="0">
                <a:latin typeface="Times New Roman" panose="02020603050405020304" pitchFamily="18" charset="0"/>
                <a:cs typeface="Times New Roman" panose="02020603050405020304" pitchFamily="18" charset="0"/>
              </a:rPr>
              <a:t>        for m = 1 to M do</a:t>
            </a:r>
          </a:p>
          <a:p>
            <a:r>
              <a:rPr lang="en-IN" sz="2400" dirty="0">
                <a:latin typeface="Times New Roman" panose="02020603050405020304" pitchFamily="18" charset="0"/>
                <a:cs typeface="Times New Roman" panose="02020603050405020304" pitchFamily="18" charset="0"/>
              </a:rPr>
              <a:t>            H'm  ← [c'1, ..., [MASK], ..., </a:t>
            </a:r>
            <a:r>
              <a:rPr lang="en-IN" sz="2400" dirty="0" err="1">
                <a:latin typeface="Times New Roman" panose="02020603050405020304" pitchFamily="18" charset="0"/>
                <a:cs typeface="Times New Roman" panose="02020603050405020304" pitchFamily="18" charset="0"/>
              </a:rPr>
              <a:t>c'M</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H''m</a:t>
            </a:r>
            <a:r>
              <a:rPr lang="en-IN" sz="2400" dirty="0">
                <a:latin typeface="Times New Roman" panose="02020603050405020304" pitchFamily="18" charset="0"/>
                <a:cs typeface="Times New Roman" panose="02020603050405020304" pitchFamily="18" charset="0"/>
              </a:rPr>
              <a:t> ← [c''1, ..., [MASK], ..., </a:t>
            </a:r>
            <a:r>
              <a:rPr lang="en-IN" sz="2400" dirty="0" err="1">
                <a:latin typeface="Times New Roman" panose="02020603050405020304" pitchFamily="18" charset="0"/>
                <a:cs typeface="Times New Roman" panose="02020603050405020304" pitchFamily="18" charset="0"/>
              </a:rPr>
              <a:t>c''M</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Compute masked contrastive loss </a:t>
            </a:r>
            <a:r>
              <a:rPr lang="en-IN" sz="2400" dirty="0" err="1">
                <a:latin typeface="Times New Roman" panose="02020603050405020304" pitchFamily="18" charset="0"/>
                <a:cs typeface="Times New Roman" panose="02020603050405020304" pitchFamily="18" charset="0"/>
              </a:rPr>
              <a:t>Lmask</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L ← </a:t>
            </a:r>
            <a:r>
              <a:rPr lang="en-IN" sz="2400" dirty="0" err="1">
                <a:latin typeface="Times New Roman" panose="02020603050405020304" pitchFamily="18" charset="0"/>
                <a:cs typeface="Times New Roman" panose="02020603050405020304" pitchFamily="18" charset="0"/>
              </a:rPr>
              <a:t>Ltemp</a:t>
            </a:r>
            <a:r>
              <a:rPr lang="en-IN" sz="2400" dirty="0">
                <a:latin typeface="Times New Roman" panose="02020603050405020304" pitchFamily="18" charset="0"/>
                <a:cs typeface="Times New Roman" panose="02020603050405020304" pitchFamily="18" charset="0"/>
              </a:rPr>
              <a:t> + λ1Lasym + λ2Lmask</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Update parameters:</a:t>
            </a:r>
          </a:p>
          <a:p>
            <a:r>
              <a:rPr lang="en-IN" sz="2400" dirty="0">
                <a:latin typeface="Times New Roman" panose="02020603050405020304" pitchFamily="18" charset="0"/>
                <a:cs typeface="Times New Roman" panose="02020603050405020304" pitchFamily="18" charset="0"/>
              </a:rPr>
              <a:t>        θ ← θ − η · ∇</a:t>
            </a:r>
            <a:r>
              <a:rPr lang="en-IN" sz="2400" dirty="0" err="1">
                <a:latin typeface="Times New Roman" panose="02020603050405020304" pitchFamily="18" charset="0"/>
                <a:cs typeface="Times New Roman" panose="02020603050405020304" pitchFamily="18" charset="0"/>
              </a:rPr>
              <a:t>θL</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end for</a:t>
            </a:r>
          </a:p>
        </p:txBody>
      </p:sp>
      <p:cxnSp>
        <p:nvCxnSpPr>
          <p:cNvPr id="13" name="Straight Connector 12">
            <a:extLst>
              <a:ext uri="{FF2B5EF4-FFF2-40B4-BE49-F238E27FC236}">
                <a16:creationId xmlns:a16="http://schemas.microsoft.com/office/drawing/2014/main" id="{50797441-E16D-A55F-28B0-F28BBDCB1D2D}"/>
              </a:ext>
            </a:extLst>
          </p:cNvPr>
          <p:cNvCxnSpPr>
            <a:cxnSpLocks/>
          </p:cNvCxnSpPr>
          <p:nvPr/>
        </p:nvCxnSpPr>
        <p:spPr>
          <a:xfrm>
            <a:off x="8534400" y="571499"/>
            <a:ext cx="0" cy="9144001"/>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697897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3FA33D-1494-99F6-6FFB-DCEC9DED58BA}"/>
              </a:ext>
            </a:extLst>
          </p:cNvPr>
          <p:cNvSpPr txBox="1"/>
          <p:nvPr/>
        </p:nvSpPr>
        <p:spPr>
          <a:xfrm>
            <a:off x="2057400" y="2019300"/>
            <a:ext cx="9144000" cy="6555641"/>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Input: Temporal Graphs G = {G₁, G₂, ..., G_T}</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Step 1: Generate Node Embeddings</a:t>
            </a:r>
          </a:p>
          <a:p>
            <a:r>
              <a:rPr lang="en-IN" sz="2000" dirty="0">
                <a:latin typeface="Times New Roman" panose="02020603050405020304" pitchFamily="18" charset="0"/>
                <a:cs typeface="Times New Roman" panose="02020603050405020304" pitchFamily="18" charset="0"/>
              </a:rPr>
              <a:t>         hᵢᵗ = TGN</a:t>
            </a:r>
            <a:r>
              <a:rPr lang="el-GR" sz="2000" dirty="0">
                <a:latin typeface="Times New Roman" panose="02020603050405020304" pitchFamily="18" charset="0"/>
                <a:cs typeface="Times New Roman" panose="02020603050405020304" pitchFamily="18" charset="0"/>
              </a:rPr>
              <a:t>θ(</a:t>
            </a:r>
            <a:r>
              <a:rPr lang="en-IN" sz="2000" dirty="0">
                <a:latin typeface="Times New Roman" panose="02020603050405020304" pitchFamily="18" charset="0"/>
                <a:cs typeface="Times New Roman" panose="02020603050405020304" pitchFamily="18" charset="0"/>
              </a:rPr>
              <a:t>Gₜ, Xₜ)[</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 ℝᴰ</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Step 2: Temporal Contrasting Loss</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ℒ_temp</a:t>
            </a:r>
            <a:r>
              <a:rPr lang="en-IN" sz="2000" dirty="0">
                <a:latin typeface="Times New Roman" panose="02020603050405020304" pitchFamily="18" charset="0"/>
                <a:cs typeface="Times New Roman" panose="02020603050405020304" pitchFamily="18" charset="0"/>
              </a:rPr>
              <a:t> = (1/|V|) </a:t>
            </a:r>
            <a:r>
              <a:rPr lang="el-GR" sz="2000" dirty="0">
                <a:latin typeface="Times New Roman" panose="02020603050405020304" pitchFamily="18" charset="0"/>
                <a:cs typeface="Times New Roman" panose="02020603050405020304" pitchFamily="18" charset="0"/>
              </a:rPr>
              <a:t>Σ</a:t>
            </a:r>
            <a:r>
              <a:rPr lang="en-IN" sz="2000" dirty="0">
                <a:latin typeface="Times New Roman" panose="02020603050405020304" pitchFamily="18" charset="0"/>
                <a:cs typeface="Times New Roman" panose="02020603050405020304" pitchFamily="18" charset="0"/>
              </a:rPr>
              <a:t>ᵢ </a:t>
            </a:r>
            <a:r>
              <a:rPr lang="el-GR" sz="2000" dirty="0">
                <a:latin typeface="Times New Roman" panose="02020603050405020304" pitchFamily="18" charset="0"/>
                <a:cs typeface="Times New Roman" panose="02020603050405020304" pitchFamily="18" charset="0"/>
              </a:rPr>
              <a:t>Σ</a:t>
            </a:r>
            <a:r>
              <a:rPr lang="en-IN" sz="2000" dirty="0">
                <a:latin typeface="Times New Roman" panose="02020603050405020304" pitchFamily="18" charset="0"/>
                <a:cs typeface="Times New Roman" panose="02020603050405020304" pitchFamily="18" charset="0"/>
              </a:rPr>
              <a:t>ₜ max(0, </a:t>
            </a:r>
            <a:r>
              <a:rPr lang="el-GR" sz="2000" dirty="0">
                <a:latin typeface="Times New Roman" panose="02020603050405020304" pitchFamily="18" charset="0"/>
                <a:cs typeface="Times New Roman" panose="02020603050405020304" pitchFamily="18" charset="0"/>
              </a:rPr>
              <a:t>Δ + </a:t>
            </a:r>
            <a:r>
              <a:rPr lang="en-IN" sz="2000" dirty="0">
                <a:latin typeface="Times New Roman" panose="02020603050405020304" pitchFamily="18" charset="0"/>
                <a:cs typeface="Times New Roman" panose="02020603050405020304" pitchFamily="18" charset="0"/>
              </a:rPr>
              <a:t>sim(neg) - sim(</a:t>
            </a:r>
            <a:r>
              <a:rPr lang="en-IN" sz="2000" dirty="0" err="1">
                <a:latin typeface="Times New Roman" panose="02020603050405020304" pitchFamily="18" charset="0"/>
                <a:cs typeface="Times New Roman" panose="02020603050405020304" pitchFamily="18" charset="0"/>
              </a:rPr>
              <a:t>pos</a:t>
            </a:r>
            <a:r>
              <a:rPr lang="en-IN"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Step 3: Asymmetric Contrasting Loss</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ℒ_asym</a:t>
            </a:r>
            <a:r>
              <a:rPr lang="en-IN" sz="2000" dirty="0">
                <a:latin typeface="Times New Roman" panose="02020603050405020304" pitchFamily="18" charset="0"/>
                <a:cs typeface="Times New Roman" panose="02020603050405020304" pitchFamily="18" charset="0"/>
              </a:rPr>
              <a:t> = (1/|V|) </a:t>
            </a:r>
            <a:r>
              <a:rPr lang="el-GR" sz="2000" dirty="0">
                <a:latin typeface="Times New Roman" panose="02020603050405020304" pitchFamily="18" charset="0"/>
                <a:cs typeface="Times New Roman" panose="02020603050405020304" pitchFamily="18" charset="0"/>
              </a:rPr>
              <a:t>Σ</a:t>
            </a:r>
            <a:r>
              <a:rPr lang="en-IN" sz="2000" dirty="0">
                <a:latin typeface="Times New Roman" panose="02020603050405020304" pitchFamily="18" charset="0"/>
                <a:cs typeface="Times New Roman" panose="02020603050405020304" pitchFamily="18" charset="0"/>
              </a:rPr>
              <a:t>ₜ </a:t>
            </a:r>
            <a:r>
              <a:rPr lang="el-GR" sz="2000" dirty="0">
                <a:latin typeface="Times New Roman" panose="02020603050405020304" pitchFamily="18" charset="0"/>
                <a:cs typeface="Times New Roman" panose="02020603050405020304" pitchFamily="18" charset="0"/>
              </a:rPr>
              <a:t>Σ</a:t>
            </a:r>
            <a:r>
              <a:rPr lang="en-IN" sz="2000" dirty="0">
                <a:latin typeface="Times New Roman" panose="02020603050405020304" pitchFamily="18" charset="0"/>
                <a:cs typeface="Times New Roman" panose="02020603050405020304" pitchFamily="18" charset="0"/>
              </a:rPr>
              <a:t>ᵢ </a:t>
            </a:r>
            <a:r>
              <a:rPr lang="el-GR" sz="2000" dirty="0">
                <a:latin typeface="Times New Roman" panose="02020603050405020304" pitchFamily="18" charset="0"/>
                <a:cs typeface="Times New Roman" panose="02020603050405020304" pitchFamily="18" charset="0"/>
              </a:rPr>
              <a:t>Σ</a:t>
            </a:r>
            <a:r>
              <a:rPr lang="en-IN" sz="2000" dirty="0">
                <a:latin typeface="Times New Roman" panose="02020603050405020304" pitchFamily="18" charset="0"/>
                <a:cs typeface="Times New Roman" panose="02020603050405020304" pitchFamily="18" charset="0"/>
              </a:rPr>
              <a:t>ⱼ ||ĥⱼᵗ - hⱼᵗ||₂²</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Step 4: Masked Contrasting Loss</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ℒ_mask</a:t>
            </a:r>
            <a:r>
              <a:rPr lang="en-IN" sz="2000" dirty="0">
                <a:latin typeface="Times New Roman" panose="02020603050405020304" pitchFamily="18" charset="0"/>
                <a:cs typeface="Times New Roman" panose="02020603050405020304" pitchFamily="18" charset="0"/>
              </a:rPr>
              <a:t> = (1/|V|) </a:t>
            </a:r>
            <a:r>
              <a:rPr lang="el-GR" sz="2000" dirty="0">
                <a:latin typeface="Times New Roman" panose="02020603050405020304" pitchFamily="18" charset="0"/>
                <a:cs typeface="Times New Roman" panose="02020603050405020304" pitchFamily="18" charset="0"/>
              </a:rPr>
              <a:t>Σ</a:t>
            </a:r>
            <a:r>
              <a:rPr lang="en-IN" sz="2000" dirty="0">
                <a:latin typeface="Times New Roman" panose="02020603050405020304" pitchFamily="18" charset="0"/>
                <a:cs typeface="Times New Roman" panose="02020603050405020304" pitchFamily="18" charset="0"/>
              </a:rPr>
              <a:t>ₜ </a:t>
            </a:r>
            <a:r>
              <a:rPr lang="el-GR" sz="2000" dirty="0">
                <a:latin typeface="Times New Roman" panose="02020603050405020304" pitchFamily="18" charset="0"/>
                <a:cs typeface="Times New Roman" panose="02020603050405020304" pitchFamily="18" charset="0"/>
              </a:rPr>
              <a:t>Σ</a:t>
            </a:r>
            <a:r>
              <a:rPr lang="en-IN" sz="2000" dirty="0">
                <a:latin typeface="Times New Roman" panose="02020603050405020304" pitchFamily="18" charset="0"/>
                <a:cs typeface="Times New Roman" panose="02020603050405020304" pitchFamily="18" charset="0"/>
              </a:rPr>
              <a:t>ᵢ </a:t>
            </a:r>
            <a:r>
              <a:rPr lang="el-GR" sz="2000" dirty="0">
                <a:latin typeface="Times New Roman" panose="02020603050405020304" pitchFamily="18" charset="0"/>
                <a:cs typeface="Times New Roman" panose="02020603050405020304" pitchFamily="18" charset="0"/>
              </a:rPr>
              <a:t>Σ</a:t>
            </a:r>
            <a:r>
              <a:rPr lang="en-IN" sz="2000" dirty="0">
                <a:latin typeface="Times New Roman" panose="02020603050405020304" pitchFamily="18" charset="0"/>
                <a:cs typeface="Times New Roman" panose="02020603050405020304" pitchFamily="18" charset="0"/>
              </a:rPr>
              <a:t>ₘ max(0, </a:t>
            </a:r>
            <a:r>
              <a:rPr lang="el-GR" sz="2000" dirty="0">
                <a:latin typeface="Times New Roman" panose="02020603050405020304" pitchFamily="18" charset="0"/>
                <a:cs typeface="Times New Roman" panose="02020603050405020304" pitchFamily="18" charset="0"/>
              </a:rPr>
              <a:t>Δ + </a:t>
            </a:r>
            <a:r>
              <a:rPr lang="en-IN" sz="2000" dirty="0">
                <a:latin typeface="Times New Roman" panose="02020603050405020304" pitchFamily="18" charset="0"/>
                <a:cs typeface="Times New Roman" panose="02020603050405020304" pitchFamily="18" charset="0"/>
              </a:rPr>
              <a:t>sim(masked, random) - sim(masked, hᵢᵗ))</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Step 5: Total Loss</a:t>
            </a:r>
          </a:p>
          <a:p>
            <a:r>
              <a:rPr lang="en-IN" sz="2000" dirty="0">
                <a:latin typeface="Times New Roman" panose="02020603050405020304" pitchFamily="18" charset="0"/>
                <a:cs typeface="Times New Roman" panose="02020603050405020304" pitchFamily="18" charset="0"/>
              </a:rPr>
              <a:t>         ℒ = </a:t>
            </a:r>
            <a:r>
              <a:rPr lang="en-IN" sz="2000" dirty="0" err="1">
                <a:latin typeface="Times New Roman" panose="02020603050405020304" pitchFamily="18" charset="0"/>
                <a:cs typeface="Times New Roman" panose="02020603050405020304" pitchFamily="18" charset="0"/>
              </a:rPr>
              <a:t>ℒ_temp</a:t>
            </a:r>
            <a:r>
              <a:rPr lang="en-IN" sz="2000" dirty="0">
                <a:latin typeface="Times New Roman" panose="02020603050405020304" pitchFamily="18" charset="0"/>
                <a:cs typeface="Times New Roman" panose="02020603050405020304" pitchFamily="18" charset="0"/>
              </a:rPr>
              <a:t> + 0.5ℒ_asym + 0.5ℒ_mask</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Step 6: Parameter Update</a:t>
            </a:r>
          </a:p>
          <a:p>
            <a:r>
              <a:rPr lang="en-IN" sz="2000" dirty="0">
                <a:latin typeface="Times New Roman" panose="02020603050405020304" pitchFamily="18" charset="0"/>
                <a:cs typeface="Times New Roman" panose="02020603050405020304" pitchFamily="18" charset="0"/>
              </a:rPr>
              <a:t>         </a:t>
            </a:r>
            <a:r>
              <a:rPr lang="el-GR" sz="2000" dirty="0">
                <a:latin typeface="Times New Roman" panose="02020603050405020304" pitchFamily="18" charset="0"/>
                <a:cs typeface="Times New Roman" panose="02020603050405020304" pitchFamily="18" charset="0"/>
              </a:rPr>
              <a:t>θ = θ - 0.001·∇θℒ</a:t>
            </a:r>
          </a:p>
          <a:p>
            <a:endParaRPr lang="el-GR"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Output: Detection Score sᵢᵗ ∈ [0,1]</a:t>
            </a:r>
          </a:p>
        </p:txBody>
      </p:sp>
      <p:sp>
        <p:nvSpPr>
          <p:cNvPr id="5" name="TextBox 4">
            <a:extLst>
              <a:ext uri="{FF2B5EF4-FFF2-40B4-BE49-F238E27FC236}">
                <a16:creationId xmlns:a16="http://schemas.microsoft.com/office/drawing/2014/main" id="{56E815F1-F46A-E7DE-EE31-6A231D83159B}"/>
              </a:ext>
            </a:extLst>
          </p:cNvPr>
          <p:cNvSpPr txBox="1"/>
          <p:nvPr/>
        </p:nvSpPr>
        <p:spPr>
          <a:xfrm>
            <a:off x="1219200" y="800100"/>
            <a:ext cx="9144000" cy="830997"/>
          </a:xfrm>
          <a:prstGeom prst="rect">
            <a:avLst/>
          </a:prstGeom>
          <a:noFill/>
        </p:spPr>
        <p:txBody>
          <a:bodyPr wrap="square">
            <a:spAutoFit/>
          </a:bodyPr>
          <a:lstStyle/>
          <a:p>
            <a:r>
              <a:rPr lang="en-US" sz="4800" dirty="0">
                <a:latin typeface="Times New Roman" panose="02020603050405020304" pitchFamily="18" charset="0"/>
                <a:cs typeface="Times New Roman" panose="02020603050405020304" pitchFamily="18" charset="0"/>
              </a:rPr>
              <a:t>M</a:t>
            </a:r>
            <a:r>
              <a:rPr lang="en-IN" sz="4800" dirty="0" err="1">
                <a:latin typeface="Times New Roman" panose="02020603050405020304" pitchFamily="18" charset="0"/>
                <a:cs typeface="Times New Roman" panose="02020603050405020304" pitchFamily="18" charset="0"/>
              </a:rPr>
              <a:t>athematical</a:t>
            </a:r>
            <a:r>
              <a:rPr lang="en-IN" sz="4800" dirty="0">
                <a:latin typeface="Times New Roman" panose="02020603050405020304" pitchFamily="18" charset="0"/>
                <a:cs typeface="Times New Roman" panose="02020603050405020304" pitchFamily="18" charset="0"/>
              </a:rPr>
              <a:t> Model </a:t>
            </a:r>
          </a:p>
        </p:txBody>
      </p:sp>
      <p:cxnSp>
        <p:nvCxnSpPr>
          <p:cNvPr id="6" name="Straight Connector 5">
            <a:extLst>
              <a:ext uri="{FF2B5EF4-FFF2-40B4-BE49-F238E27FC236}">
                <a16:creationId xmlns:a16="http://schemas.microsoft.com/office/drawing/2014/main" id="{A1344DE7-4BB4-CC6F-9D0B-9F94E7B5C801}"/>
              </a:ext>
            </a:extLst>
          </p:cNvPr>
          <p:cNvCxnSpPr/>
          <p:nvPr/>
        </p:nvCxnSpPr>
        <p:spPr>
          <a:xfrm>
            <a:off x="533400" y="9715500"/>
            <a:ext cx="17221200"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546421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8464446-0F8C-D83C-C791-399E18BD65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9000" y="1257300"/>
            <a:ext cx="11201399" cy="8229598"/>
          </a:xfrm>
          <a:prstGeom prst="rect">
            <a:avLst/>
          </a:prstGeom>
        </p:spPr>
      </p:pic>
      <p:sp>
        <p:nvSpPr>
          <p:cNvPr id="2" name="object 2" descr="$PPTXTitle"/>
          <p:cNvSpPr txBox="1">
            <a:spLocks noGrp="1"/>
          </p:cNvSpPr>
          <p:nvPr>
            <p:ph type="title"/>
          </p:nvPr>
        </p:nvSpPr>
        <p:spPr>
          <a:xfrm>
            <a:off x="914400" y="647699"/>
            <a:ext cx="16614532" cy="1490793"/>
          </a:xfrm>
          <a:prstGeom prst="rect">
            <a:avLst/>
          </a:prstGeom>
        </p:spPr>
        <p:txBody>
          <a:bodyPr vert="horz" wrap="square" lIns="0" tIns="13335" rIns="0" bIns="0" rtlCol="0">
            <a:spAutoFit/>
          </a:bodyPr>
          <a:lstStyle/>
          <a:p>
            <a:pPr marL="12700" algn="ctr">
              <a:spcBef>
                <a:spcPts val="105"/>
              </a:spcBef>
            </a:pPr>
            <a:r>
              <a:rPr sz="4800" u="none" dirty="0"/>
              <a:t>Architecture</a:t>
            </a:r>
            <a:r>
              <a:rPr lang="en-US" sz="4800" u="none" dirty="0"/>
              <a:t> of BASE PAPER</a:t>
            </a:r>
            <a:br>
              <a:rPr lang="en-IN" sz="4800" u="none" dirty="0">
                <a:latin typeface="Times New Roman" panose="02020603050405020304" pitchFamily="18" charset="0"/>
                <a:cs typeface="Times New Roman" panose="02020603050405020304" pitchFamily="18" charset="0"/>
              </a:rPr>
            </a:br>
            <a:endParaRPr sz="4800" u="none" spc="-10" dirty="0"/>
          </a:p>
        </p:txBody>
      </p:sp>
      <p:cxnSp>
        <p:nvCxnSpPr>
          <p:cNvPr id="3" name="Straight Connector 2">
            <a:extLst>
              <a:ext uri="{FF2B5EF4-FFF2-40B4-BE49-F238E27FC236}">
                <a16:creationId xmlns:a16="http://schemas.microsoft.com/office/drawing/2014/main" id="{6C703DB9-B751-1DF5-405E-CB2A8D2F3DAB}"/>
              </a:ext>
            </a:extLst>
          </p:cNvPr>
          <p:cNvCxnSpPr/>
          <p:nvPr/>
        </p:nvCxnSpPr>
        <p:spPr>
          <a:xfrm>
            <a:off x="533400" y="9715500"/>
            <a:ext cx="17221200" cy="0"/>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A6465A93-F20D-8AF7-3EA9-93F123E295F3}"/>
              </a:ext>
            </a:extLst>
          </p:cNvPr>
          <p:cNvCxnSpPr/>
          <p:nvPr/>
        </p:nvCxnSpPr>
        <p:spPr>
          <a:xfrm>
            <a:off x="533400" y="9715500"/>
            <a:ext cx="17221200" cy="0"/>
          </a:xfrm>
          <a:prstGeom prst="line">
            <a:avLst/>
          </a:prstGeom>
        </p:spPr>
        <p:style>
          <a:lnRef idx="2">
            <a:schemeClr val="dk1"/>
          </a:lnRef>
          <a:fillRef idx="0">
            <a:schemeClr val="dk1"/>
          </a:fillRef>
          <a:effectRef idx="1">
            <a:schemeClr val="dk1"/>
          </a:effectRef>
          <a:fontRef idx="minor">
            <a:schemeClr val="tx1"/>
          </a:fontRef>
        </p:style>
      </p:cxnSp>
      <p:sp>
        <p:nvSpPr>
          <p:cNvPr id="5" name="TextBox 4">
            <a:extLst>
              <a:ext uri="{FF2B5EF4-FFF2-40B4-BE49-F238E27FC236}">
                <a16:creationId xmlns:a16="http://schemas.microsoft.com/office/drawing/2014/main" id="{102CABD9-95A5-8955-2DC8-F420E1632DF9}"/>
              </a:ext>
            </a:extLst>
          </p:cNvPr>
          <p:cNvSpPr txBox="1"/>
          <p:nvPr/>
        </p:nvSpPr>
        <p:spPr>
          <a:xfrm>
            <a:off x="1447800" y="689400"/>
            <a:ext cx="9144000" cy="830997"/>
          </a:xfrm>
          <a:prstGeom prst="rect">
            <a:avLst/>
          </a:prstGeom>
          <a:noFill/>
        </p:spPr>
        <p:txBody>
          <a:bodyPr wrap="square">
            <a:spAutoFit/>
          </a:bodyPr>
          <a:lstStyle/>
          <a:p>
            <a:r>
              <a:rPr lang="en-US" sz="4800" dirty="0">
                <a:latin typeface="Times New Roman" panose="02020603050405020304" pitchFamily="18" charset="0"/>
                <a:cs typeface="Times New Roman" panose="02020603050405020304" pitchFamily="18" charset="0"/>
              </a:rPr>
              <a:t>T</a:t>
            </a:r>
            <a:r>
              <a:rPr lang="en-IN" sz="4800" dirty="0" err="1">
                <a:latin typeface="Times New Roman" panose="02020603050405020304" pitchFamily="18" charset="0"/>
                <a:cs typeface="Times New Roman" panose="02020603050405020304" pitchFamily="18" charset="0"/>
              </a:rPr>
              <a:t>echnologies</a:t>
            </a:r>
            <a:r>
              <a:rPr lang="en-IN" sz="4800" dirty="0">
                <a:latin typeface="Times New Roman" panose="02020603050405020304" pitchFamily="18" charset="0"/>
                <a:cs typeface="Times New Roman" panose="02020603050405020304" pitchFamily="18" charset="0"/>
              </a:rPr>
              <a:t> Used</a:t>
            </a:r>
          </a:p>
        </p:txBody>
      </p:sp>
      <p:graphicFrame>
        <p:nvGraphicFramePr>
          <p:cNvPr id="6" name="Table 5">
            <a:extLst>
              <a:ext uri="{FF2B5EF4-FFF2-40B4-BE49-F238E27FC236}">
                <a16:creationId xmlns:a16="http://schemas.microsoft.com/office/drawing/2014/main" id="{EB6DD1A6-DFB5-B17B-2F1A-D3126CB5631A}"/>
              </a:ext>
            </a:extLst>
          </p:cNvPr>
          <p:cNvGraphicFramePr>
            <a:graphicFrameLocks noGrp="1"/>
          </p:cNvGraphicFramePr>
          <p:nvPr>
            <p:extLst>
              <p:ext uri="{D42A27DB-BD31-4B8C-83A1-F6EECF244321}">
                <p14:modId xmlns:p14="http://schemas.microsoft.com/office/powerpoint/2010/main" val="1141272149"/>
              </p:ext>
            </p:extLst>
          </p:nvPr>
        </p:nvGraphicFramePr>
        <p:xfrm>
          <a:off x="1600200" y="1866901"/>
          <a:ext cx="14859000" cy="7086597"/>
        </p:xfrm>
        <a:graphic>
          <a:graphicData uri="http://schemas.openxmlformats.org/drawingml/2006/table">
            <a:tbl>
              <a:tblPr firstRow="1" bandRow="1">
                <a:tableStyleId>{5C22544A-7EE6-4342-B048-85BDC9FD1C3A}</a:tableStyleId>
              </a:tblPr>
              <a:tblGrid>
                <a:gridCol w="4419600">
                  <a:extLst>
                    <a:ext uri="{9D8B030D-6E8A-4147-A177-3AD203B41FA5}">
                      <a16:colId xmlns:a16="http://schemas.microsoft.com/office/drawing/2014/main" val="544752777"/>
                    </a:ext>
                  </a:extLst>
                </a:gridCol>
                <a:gridCol w="4724400">
                  <a:extLst>
                    <a:ext uri="{9D8B030D-6E8A-4147-A177-3AD203B41FA5}">
                      <a16:colId xmlns:a16="http://schemas.microsoft.com/office/drawing/2014/main" val="1514673452"/>
                    </a:ext>
                  </a:extLst>
                </a:gridCol>
                <a:gridCol w="5715000">
                  <a:extLst>
                    <a:ext uri="{9D8B030D-6E8A-4147-A177-3AD203B41FA5}">
                      <a16:colId xmlns:a16="http://schemas.microsoft.com/office/drawing/2014/main" val="1913483995"/>
                    </a:ext>
                  </a:extLst>
                </a:gridCol>
              </a:tblGrid>
              <a:tr h="1012371">
                <a:tc>
                  <a:txBody>
                    <a:bodyPr/>
                    <a:lstStyle/>
                    <a:p>
                      <a:pPr algn="ctr"/>
                      <a:r>
                        <a:rPr lang="en-IN" sz="4000" dirty="0">
                          <a:solidFill>
                            <a:schemeClr val="tx1"/>
                          </a:solidFill>
                          <a:latin typeface="Times New Roman" panose="02020603050405020304" pitchFamily="18" charset="0"/>
                          <a:cs typeface="Times New Roman" panose="02020603050405020304" pitchFamily="18" charset="0"/>
                        </a:rPr>
                        <a:t>  Category</a:t>
                      </a:r>
                      <a:r>
                        <a:rPr lang="en-IN" sz="400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IN" sz="4000" dirty="0">
                          <a:solidFill>
                            <a:schemeClr val="tx1"/>
                          </a:solidFill>
                        </a:rPr>
                        <a:t>            </a:t>
                      </a:r>
                      <a:r>
                        <a:rPr lang="en-IN" sz="4000" dirty="0">
                          <a:solidFill>
                            <a:schemeClr val="tx1"/>
                          </a:solidFill>
                          <a:latin typeface="Times New Roman" panose="02020603050405020304" pitchFamily="18" charset="0"/>
                          <a:cs typeface="Times New Roman" panose="02020603050405020304" pitchFamily="18" charset="0"/>
                        </a:rPr>
                        <a:t>Technology</a:t>
                      </a:r>
                      <a:endParaRPr lang="en-IN" sz="4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4000" b="1" dirty="0">
                          <a:solidFill>
                            <a:schemeClr val="tx1"/>
                          </a:solidFill>
                          <a:latin typeface="Times New Roman" panose="02020603050405020304" pitchFamily="18" charset="0"/>
                          <a:cs typeface="Times New Roman" panose="02020603050405020304" pitchFamily="18" charset="0"/>
                        </a:rPr>
                        <a:t>             Purpose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0065444"/>
                  </a:ext>
                </a:extLst>
              </a:tr>
              <a:tr h="1012371">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761889"/>
                  </a:ext>
                </a:extLst>
              </a:tr>
              <a:tr h="1012371">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358983"/>
                  </a:ext>
                </a:extLst>
              </a:tr>
              <a:tr h="1012371">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923492"/>
                  </a:ext>
                </a:extLst>
              </a:tr>
              <a:tr h="1012371">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53742014"/>
                  </a:ext>
                </a:extLst>
              </a:tr>
              <a:tr h="1012371">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0951585"/>
                  </a:ext>
                </a:extLst>
              </a:tr>
              <a:tr h="1012371">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1831627"/>
                  </a:ext>
                </a:extLst>
              </a:tr>
            </a:tbl>
          </a:graphicData>
        </a:graphic>
      </p:graphicFrame>
      <p:sp>
        <p:nvSpPr>
          <p:cNvPr id="8" name="TextBox 7">
            <a:extLst>
              <a:ext uri="{FF2B5EF4-FFF2-40B4-BE49-F238E27FC236}">
                <a16:creationId xmlns:a16="http://schemas.microsoft.com/office/drawing/2014/main" id="{76E7D340-D80D-37FE-11CA-30935A67D3F1}"/>
              </a:ext>
            </a:extLst>
          </p:cNvPr>
          <p:cNvSpPr txBox="1"/>
          <p:nvPr/>
        </p:nvSpPr>
        <p:spPr>
          <a:xfrm>
            <a:off x="2209800" y="6116744"/>
            <a:ext cx="9144000" cy="523220"/>
          </a:xfrm>
          <a:prstGeom prst="rect">
            <a:avLst/>
          </a:prstGeom>
          <a:noFill/>
        </p:spPr>
        <p:txBody>
          <a:bodyPr wrap="square">
            <a:spAutoFit/>
          </a:bodyPr>
          <a:lstStyle/>
          <a:p>
            <a:r>
              <a:rPr lang="en-IN" sz="2800" dirty="0">
                <a:latin typeface="Times New Roman" panose="02020603050405020304" pitchFamily="18" charset="0"/>
                <a:cs typeface="Times New Roman" panose="02020603050405020304" pitchFamily="18" charset="0"/>
              </a:rPr>
              <a:t>Contrastive Learning</a:t>
            </a:r>
          </a:p>
        </p:txBody>
      </p:sp>
      <p:sp>
        <p:nvSpPr>
          <p:cNvPr id="10" name="TextBox 9">
            <a:extLst>
              <a:ext uri="{FF2B5EF4-FFF2-40B4-BE49-F238E27FC236}">
                <a16:creationId xmlns:a16="http://schemas.microsoft.com/office/drawing/2014/main" id="{E4176364-6114-B8C9-EB5E-79F4ED64C2B7}"/>
              </a:ext>
            </a:extLst>
          </p:cNvPr>
          <p:cNvSpPr txBox="1"/>
          <p:nvPr/>
        </p:nvSpPr>
        <p:spPr>
          <a:xfrm>
            <a:off x="2590800" y="4122944"/>
            <a:ext cx="9144000" cy="523220"/>
          </a:xfrm>
          <a:prstGeom prst="rect">
            <a:avLst/>
          </a:prstGeom>
          <a:noFill/>
        </p:spPr>
        <p:txBody>
          <a:bodyPr wrap="square">
            <a:spAutoFit/>
          </a:bodyPr>
          <a:lstStyle/>
          <a:p>
            <a:r>
              <a:rPr lang="en-IN" sz="2800" dirty="0">
                <a:latin typeface="Times New Roman" panose="02020603050405020304" pitchFamily="18" charset="0"/>
                <a:cs typeface="Times New Roman" panose="02020603050405020304" pitchFamily="18" charset="0"/>
              </a:rPr>
              <a:t>Graph Learning</a:t>
            </a:r>
          </a:p>
        </p:txBody>
      </p:sp>
      <p:sp>
        <p:nvSpPr>
          <p:cNvPr id="12" name="TextBox 11">
            <a:extLst>
              <a:ext uri="{FF2B5EF4-FFF2-40B4-BE49-F238E27FC236}">
                <a16:creationId xmlns:a16="http://schemas.microsoft.com/office/drawing/2014/main" id="{B7246000-ED64-9CF3-82A5-DF7607DAEAEF}"/>
              </a:ext>
            </a:extLst>
          </p:cNvPr>
          <p:cNvSpPr txBox="1"/>
          <p:nvPr/>
        </p:nvSpPr>
        <p:spPr>
          <a:xfrm>
            <a:off x="2362200" y="5119844"/>
            <a:ext cx="9144000" cy="523220"/>
          </a:xfrm>
          <a:prstGeom prst="rect">
            <a:avLst/>
          </a:prstGeom>
          <a:noFill/>
        </p:spPr>
        <p:txBody>
          <a:bodyPr wrap="square">
            <a:spAutoFit/>
          </a:bodyPr>
          <a:lstStyle/>
          <a:p>
            <a:r>
              <a:rPr lang="en-IN" sz="2800" dirty="0">
                <a:latin typeface="Times New Roman" panose="02020603050405020304" pitchFamily="18" charset="0"/>
                <a:cs typeface="Times New Roman" panose="02020603050405020304" pitchFamily="18" charset="0"/>
              </a:rPr>
              <a:t>Graph Construction</a:t>
            </a:r>
          </a:p>
        </p:txBody>
      </p:sp>
      <p:sp>
        <p:nvSpPr>
          <p:cNvPr id="14" name="TextBox 13">
            <a:extLst>
              <a:ext uri="{FF2B5EF4-FFF2-40B4-BE49-F238E27FC236}">
                <a16:creationId xmlns:a16="http://schemas.microsoft.com/office/drawing/2014/main" id="{813AEC03-3795-DF7D-F408-9AAE8507EC49}"/>
              </a:ext>
            </a:extLst>
          </p:cNvPr>
          <p:cNvSpPr txBox="1"/>
          <p:nvPr/>
        </p:nvSpPr>
        <p:spPr>
          <a:xfrm>
            <a:off x="2804160" y="7101815"/>
            <a:ext cx="9144000" cy="523220"/>
          </a:xfrm>
          <a:prstGeom prst="rect">
            <a:avLst/>
          </a:prstGeom>
          <a:noFill/>
        </p:spPr>
        <p:txBody>
          <a:bodyPr wrap="square">
            <a:spAutoFit/>
          </a:bodyPr>
          <a:lstStyle/>
          <a:p>
            <a:r>
              <a:rPr lang="en-IN" sz="2800" dirty="0">
                <a:latin typeface="Times New Roman" panose="02020603050405020304" pitchFamily="18" charset="0"/>
                <a:cs typeface="Times New Roman" panose="02020603050405020304" pitchFamily="18" charset="0"/>
              </a:rPr>
              <a:t>Classifier</a:t>
            </a:r>
          </a:p>
        </p:txBody>
      </p:sp>
      <p:sp>
        <p:nvSpPr>
          <p:cNvPr id="16" name="TextBox 15">
            <a:extLst>
              <a:ext uri="{FF2B5EF4-FFF2-40B4-BE49-F238E27FC236}">
                <a16:creationId xmlns:a16="http://schemas.microsoft.com/office/drawing/2014/main" id="{575FA846-AAB7-F21B-C696-458327ACA613}"/>
              </a:ext>
            </a:extLst>
          </p:cNvPr>
          <p:cNvSpPr txBox="1"/>
          <p:nvPr/>
        </p:nvSpPr>
        <p:spPr>
          <a:xfrm>
            <a:off x="2788920" y="3046156"/>
            <a:ext cx="9144000" cy="523220"/>
          </a:xfrm>
          <a:prstGeom prst="rect">
            <a:avLst/>
          </a:prstGeom>
          <a:noFill/>
        </p:spPr>
        <p:txBody>
          <a:bodyPr wrap="square">
            <a:spAutoFit/>
          </a:bodyPr>
          <a:lstStyle/>
          <a:p>
            <a:r>
              <a:rPr lang="en-IN" sz="2800" dirty="0">
                <a:latin typeface="Times New Roman" panose="02020603050405020304" pitchFamily="18" charset="0"/>
                <a:cs typeface="Times New Roman" panose="02020603050405020304" pitchFamily="18" charset="0"/>
              </a:rPr>
              <a:t>Framework</a:t>
            </a:r>
          </a:p>
        </p:txBody>
      </p:sp>
      <p:sp>
        <p:nvSpPr>
          <p:cNvPr id="18" name="TextBox 17">
            <a:extLst>
              <a:ext uri="{FF2B5EF4-FFF2-40B4-BE49-F238E27FC236}">
                <a16:creationId xmlns:a16="http://schemas.microsoft.com/office/drawing/2014/main" id="{57406FAE-6D73-47B2-3298-4D827D8D8BCE}"/>
              </a:ext>
            </a:extLst>
          </p:cNvPr>
          <p:cNvSpPr txBox="1"/>
          <p:nvPr/>
        </p:nvSpPr>
        <p:spPr>
          <a:xfrm>
            <a:off x="2971800" y="8146122"/>
            <a:ext cx="9144000" cy="523220"/>
          </a:xfrm>
          <a:prstGeom prst="rect">
            <a:avLst/>
          </a:prstGeom>
          <a:noFill/>
        </p:spPr>
        <p:txBody>
          <a:bodyPr wrap="square">
            <a:spAutoFit/>
          </a:bodyPr>
          <a:lstStyle/>
          <a:p>
            <a:r>
              <a:rPr lang="en-US" sz="2800" dirty="0" err="1">
                <a:latin typeface="Times New Roman" panose="02020603050405020304" pitchFamily="18" charset="0"/>
                <a:cs typeface="Times New Roman" panose="02020603050405020304" pitchFamily="18" charset="0"/>
              </a:rPr>
              <a:t>DataSet</a:t>
            </a:r>
            <a:endParaRPr lang="en-IN" sz="280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8ECF56BA-AE30-4C33-0832-D3109D353CFB}"/>
              </a:ext>
            </a:extLst>
          </p:cNvPr>
          <p:cNvSpPr txBox="1"/>
          <p:nvPr/>
        </p:nvSpPr>
        <p:spPr>
          <a:xfrm>
            <a:off x="6355080" y="3178200"/>
            <a:ext cx="4815840" cy="400110"/>
          </a:xfrm>
          <a:prstGeom prst="rect">
            <a:avLst/>
          </a:prstGeom>
          <a:noFill/>
        </p:spPr>
        <p:txBody>
          <a:bodyPr wrap="square">
            <a:spAutoFit/>
          </a:bodyPr>
          <a:lstStyle/>
          <a:p>
            <a:r>
              <a:rPr lang="en-IN" sz="2000" dirty="0" err="1">
                <a:latin typeface="Times New Roman" panose="02020603050405020304" pitchFamily="18" charset="0"/>
                <a:cs typeface="Times New Roman" panose="02020603050405020304" pitchFamily="18" charset="0"/>
              </a:rPr>
              <a:t>PyTorch</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PyTorch</a:t>
            </a:r>
            <a:r>
              <a:rPr lang="en-IN" sz="2000" dirty="0">
                <a:latin typeface="Times New Roman" panose="02020603050405020304" pitchFamily="18" charset="0"/>
                <a:cs typeface="Times New Roman" panose="02020603050405020304" pitchFamily="18" charset="0"/>
              </a:rPr>
              <a:t> Geometric (</a:t>
            </a:r>
            <a:r>
              <a:rPr lang="en-IN" sz="2000" dirty="0" err="1">
                <a:latin typeface="Times New Roman" panose="02020603050405020304" pitchFamily="18" charset="0"/>
                <a:cs typeface="Times New Roman" panose="02020603050405020304" pitchFamily="18" charset="0"/>
              </a:rPr>
              <a:t>PyG</a:t>
            </a:r>
            <a:r>
              <a:rPr lang="en-IN" sz="2000" dirty="0">
                <a:latin typeface="Times New Roman" panose="02020603050405020304" pitchFamily="18" charset="0"/>
                <a:cs typeface="Times New Roman" panose="02020603050405020304" pitchFamily="18" charset="0"/>
              </a:rPr>
              <a:t>)</a:t>
            </a:r>
          </a:p>
        </p:txBody>
      </p:sp>
      <p:sp>
        <p:nvSpPr>
          <p:cNvPr id="22" name="TextBox 21">
            <a:extLst>
              <a:ext uri="{FF2B5EF4-FFF2-40B4-BE49-F238E27FC236}">
                <a16:creationId xmlns:a16="http://schemas.microsoft.com/office/drawing/2014/main" id="{45D73070-AA0E-C3F9-F7BE-7215E241E391}"/>
              </a:ext>
            </a:extLst>
          </p:cNvPr>
          <p:cNvSpPr txBox="1"/>
          <p:nvPr/>
        </p:nvSpPr>
        <p:spPr>
          <a:xfrm>
            <a:off x="6553200" y="4155333"/>
            <a:ext cx="5638800" cy="400110"/>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Temporal Graph Network (TGN)</a:t>
            </a:r>
          </a:p>
        </p:txBody>
      </p:sp>
      <p:sp>
        <p:nvSpPr>
          <p:cNvPr id="24" name="TextBox 23">
            <a:extLst>
              <a:ext uri="{FF2B5EF4-FFF2-40B4-BE49-F238E27FC236}">
                <a16:creationId xmlns:a16="http://schemas.microsoft.com/office/drawing/2014/main" id="{4801B943-4A7D-092C-6930-A1FA6F1142F4}"/>
              </a:ext>
            </a:extLst>
          </p:cNvPr>
          <p:cNvSpPr txBox="1"/>
          <p:nvPr/>
        </p:nvSpPr>
        <p:spPr>
          <a:xfrm>
            <a:off x="7543800" y="5148046"/>
            <a:ext cx="2438400" cy="400110"/>
          </a:xfrm>
          <a:prstGeom prst="rect">
            <a:avLst/>
          </a:prstGeom>
          <a:noFill/>
        </p:spPr>
        <p:txBody>
          <a:bodyPr wrap="square">
            <a:spAutoFit/>
          </a:bodyPr>
          <a:lstStyle/>
          <a:p>
            <a:r>
              <a:rPr lang="en-IN" sz="2000" dirty="0" err="1">
                <a:latin typeface="Times New Roman" panose="02020603050405020304" pitchFamily="18" charset="0"/>
                <a:cs typeface="Times New Roman" panose="02020603050405020304" pitchFamily="18" charset="0"/>
              </a:rPr>
              <a:t>NetworkX</a:t>
            </a:r>
            <a:endParaRPr lang="en-IN" sz="20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EBEDCBB9-77E8-BC78-DE75-95E8258972D4}"/>
              </a:ext>
            </a:extLst>
          </p:cNvPr>
          <p:cNvSpPr txBox="1"/>
          <p:nvPr/>
        </p:nvSpPr>
        <p:spPr>
          <a:xfrm>
            <a:off x="6400800" y="6033961"/>
            <a:ext cx="4480560" cy="707886"/>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Temporal, Asymmetric, and Masked Contrastive Learning</a:t>
            </a:r>
          </a:p>
        </p:txBody>
      </p:sp>
      <p:sp>
        <p:nvSpPr>
          <p:cNvPr id="28" name="TextBox 27">
            <a:extLst>
              <a:ext uri="{FF2B5EF4-FFF2-40B4-BE49-F238E27FC236}">
                <a16:creationId xmlns:a16="http://schemas.microsoft.com/office/drawing/2014/main" id="{9FC8C660-6D68-AD45-8ED9-6A5ED85CCA87}"/>
              </a:ext>
            </a:extLst>
          </p:cNvPr>
          <p:cNvSpPr txBox="1"/>
          <p:nvPr/>
        </p:nvSpPr>
        <p:spPr>
          <a:xfrm>
            <a:off x="7559040" y="7147121"/>
            <a:ext cx="2423160" cy="400110"/>
          </a:xfrm>
          <a:prstGeom prst="rect">
            <a:avLst/>
          </a:prstGeom>
          <a:noFill/>
        </p:spPr>
        <p:txBody>
          <a:bodyPr wrap="square">
            <a:spAutoFit/>
          </a:bodyPr>
          <a:lstStyle/>
          <a:p>
            <a:r>
              <a:rPr lang="en-IN" sz="2000" dirty="0" err="1">
                <a:latin typeface="Times New Roman" panose="02020603050405020304" pitchFamily="18" charset="0"/>
                <a:cs typeface="Times New Roman" panose="02020603050405020304" pitchFamily="18" charset="0"/>
              </a:rPr>
              <a:t>LightGBM</a:t>
            </a:r>
            <a:endParaRPr lang="en-IN" sz="2000"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837128EE-A26A-7E6B-1C13-3D09E3988F2E}"/>
              </a:ext>
            </a:extLst>
          </p:cNvPr>
          <p:cNvSpPr txBox="1"/>
          <p:nvPr/>
        </p:nvSpPr>
        <p:spPr>
          <a:xfrm>
            <a:off x="6819900" y="8053789"/>
            <a:ext cx="4419600" cy="707886"/>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NF-CSE-CIC-IDS2018-V2</a:t>
            </a:r>
          </a:p>
          <a:p>
            <a:r>
              <a:rPr lang="en-IN" sz="2000" dirty="0">
                <a:latin typeface="Times New Roman" panose="02020603050405020304" pitchFamily="18" charset="0"/>
                <a:cs typeface="Times New Roman" panose="02020603050405020304" pitchFamily="18" charset="0"/>
              </a:rPr>
              <a:t>NF-UNSW-NB15-V2</a:t>
            </a:r>
          </a:p>
        </p:txBody>
      </p:sp>
      <p:sp>
        <p:nvSpPr>
          <p:cNvPr id="32" name="TextBox 31">
            <a:extLst>
              <a:ext uri="{FF2B5EF4-FFF2-40B4-BE49-F238E27FC236}">
                <a16:creationId xmlns:a16="http://schemas.microsoft.com/office/drawing/2014/main" id="{2F594284-89BF-614E-2782-B79F913953A4}"/>
              </a:ext>
            </a:extLst>
          </p:cNvPr>
          <p:cNvSpPr txBox="1"/>
          <p:nvPr/>
        </p:nvSpPr>
        <p:spPr>
          <a:xfrm>
            <a:off x="11051382" y="5054223"/>
            <a:ext cx="5256212" cy="707886"/>
          </a:xfrm>
          <a:prstGeom prst="rect">
            <a:avLst/>
          </a:prstGeom>
          <a:noFill/>
        </p:spPr>
        <p:txBody>
          <a:bodyPr wrap="square">
            <a:spAutoFit/>
          </a:bodyPr>
          <a:lstStyle/>
          <a:p>
            <a:pPr algn="l"/>
            <a:r>
              <a:rPr lang="en-IN" sz="2000" dirty="0">
                <a:latin typeface="Times New Roman" panose="02020603050405020304" pitchFamily="18" charset="0"/>
                <a:cs typeface="Times New Roman" panose="02020603050405020304" pitchFamily="18" charset="0"/>
              </a:rPr>
              <a:t>Construct temporal graph snapshots from network traffic</a:t>
            </a:r>
          </a:p>
        </p:txBody>
      </p:sp>
      <p:sp>
        <p:nvSpPr>
          <p:cNvPr id="34" name="TextBox 33">
            <a:extLst>
              <a:ext uri="{FF2B5EF4-FFF2-40B4-BE49-F238E27FC236}">
                <a16:creationId xmlns:a16="http://schemas.microsoft.com/office/drawing/2014/main" id="{AFE4C309-9960-F7DD-0E12-05A9DAC47BAF}"/>
              </a:ext>
            </a:extLst>
          </p:cNvPr>
          <p:cNvSpPr txBox="1"/>
          <p:nvPr/>
        </p:nvSpPr>
        <p:spPr>
          <a:xfrm>
            <a:off x="11051382" y="4087421"/>
            <a:ext cx="5103018" cy="707886"/>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Capture the temporal evolution of network nodes and interactions</a:t>
            </a:r>
          </a:p>
        </p:txBody>
      </p:sp>
      <p:sp>
        <p:nvSpPr>
          <p:cNvPr id="36" name="TextBox 35">
            <a:extLst>
              <a:ext uri="{FF2B5EF4-FFF2-40B4-BE49-F238E27FC236}">
                <a16:creationId xmlns:a16="http://schemas.microsoft.com/office/drawing/2014/main" id="{417D734B-59A9-C35F-5F97-A9049959DDC3}"/>
              </a:ext>
            </a:extLst>
          </p:cNvPr>
          <p:cNvSpPr txBox="1"/>
          <p:nvPr/>
        </p:nvSpPr>
        <p:spPr>
          <a:xfrm>
            <a:off x="11095038" y="3016030"/>
            <a:ext cx="4983162" cy="707886"/>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Build and train Graph Neural Network (GNN) models</a:t>
            </a:r>
          </a:p>
        </p:txBody>
      </p:sp>
      <p:sp>
        <p:nvSpPr>
          <p:cNvPr id="38" name="TextBox 37">
            <a:extLst>
              <a:ext uri="{FF2B5EF4-FFF2-40B4-BE49-F238E27FC236}">
                <a16:creationId xmlns:a16="http://schemas.microsoft.com/office/drawing/2014/main" id="{C3D9C6AB-5409-E5F4-23A9-F51ED73CBC46}"/>
              </a:ext>
            </a:extLst>
          </p:cNvPr>
          <p:cNvSpPr txBox="1"/>
          <p:nvPr/>
        </p:nvSpPr>
        <p:spPr>
          <a:xfrm>
            <a:off x="11079480" y="6020365"/>
            <a:ext cx="4800600" cy="707886"/>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Learn robust self-supervised graph representations</a:t>
            </a:r>
          </a:p>
        </p:txBody>
      </p:sp>
      <p:sp>
        <p:nvSpPr>
          <p:cNvPr id="40" name="TextBox 39">
            <a:extLst>
              <a:ext uri="{FF2B5EF4-FFF2-40B4-BE49-F238E27FC236}">
                <a16:creationId xmlns:a16="http://schemas.microsoft.com/office/drawing/2014/main" id="{D3F2A991-4A5A-0B2C-94E3-609DCAEFDF37}"/>
              </a:ext>
            </a:extLst>
          </p:cNvPr>
          <p:cNvSpPr txBox="1"/>
          <p:nvPr/>
        </p:nvSpPr>
        <p:spPr>
          <a:xfrm>
            <a:off x="11079480" y="7020738"/>
            <a:ext cx="4922520" cy="707886"/>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Classify network traffic as benign or malicious efficiently</a:t>
            </a:r>
          </a:p>
        </p:txBody>
      </p:sp>
      <p:sp>
        <p:nvSpPr>
          <p:cNvPr id="42" name="TextBox 41">
            <a:extLst>
              <a:ext uri="{FF2B5EF4-FFF2-40B4-BE49-F238E27FC236}">
                <a16:creationId xmlns:a16="http://schemas.microsoft.com/office/drawing/2014/main" id="{46E64DB9-9A66-5E32-B582-8490D542D8AA}"/>
              </a:ext>
            </a:extLst>
          </p:cNvPr>
          <p:cNvSpPr txBox="1"/>
          <p:nvPr/>
        </p:nvSpPr>
        <p:spPr>
          <a:xfrm>
            <a:off x="11051382" y="8010175"/>
            <a:ext cx="4828698" cy="707886"/>
          </a:xfrm>
          <a:prstGeom prst="rect">
            <a:avLst/>
          </a:prstGeom>
          <a:noFill/>
        </p:spPr>
        <p:txBody>
          <a:bodyPr wrap="square">
            <a:spAutoFit/>
          </a:bodyPr>
          <a:lstStyle/>
          <a:p>
            <a:pPr algn="just"/>
            <a:r>
              <a:rPr lang="en-IN" sz="2000" dirty="0">
                <a:latin typeface="Times New Roman" panose="02020603050405020304" pitchFamily="18" charset="0"/>
                <a:cs typeface="Times New Roman" panose="02020603050405020304" pitchFamily="18" charset="0"/>
              </a:rPr>
              <a:t>Train, validate, and evaluate the intrusion detection model to ensure accurate detection.</a:t>
            </a:r>
          </a:p>
        </p:txBody>
      </p:sp>
      <p:graphicFrame>
        <p:nvGraphicFramePr>
          <p:cNvPr id="49" name="Table 48">
            <a:extLst>
              <a:ext uri="{FF2B5EF4-FFF2-40B4-BE49-F238E27FC236}">
                <a16:creationId xmlns:a16="http://schemas.microsoft.com/office/drawing/2014/main" id="{62150572-BE69-1B92-B5CF-A9878C540FC3}"/>
              </a:ext>
            </a:extLst>
          </p:cNvPr>
          <p:cNvGraphicFramePr>
            <a:graphicFrameLocks noGrp="1"/>
          </p:cNvGraphicFramePr>
          <p:nvPr/>
        </p:nvGraphicFramePr>
        <p:xfrm>
          <a:off x="1111250" y="5089208"/>
          <a:ext cx="12269788" cy="365760"/>
        </p:xfrm>
        <a:graphic>
          <a:graphicData uri="http://schemas.openxmlformats.org/drawingml/2006/table">
            <a:tbl>
              <a:tblPr/>
              <a:tblGrid>
                <a:gridCol w="12269788">
                  <a:extLst>
                    <a:ext uri="{9D8B030D-6E8A-4147-A177-3AD203B41FA5}">
                      <a16:colId xmlns:a16="http://schemas.microsoft.com/office/drawing/2014/main" val="3207870913"/>
                    </a:ext>
                  </a:extLst>
                </a:gridCol>
              </a:tblGrid>
              <a:tr h="0">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097680208"/>
                  </a:ext>
                </a:extLst>
              </a:tr>
            </a:tbl>
          </a:graphicData>
        </a:graphic>
      </p:graphicFrame>
      <p:graphicFrame>
        <p:nvGraphicFramePr>
          <p:cNvPr id="50" name="Table 49">
            <a:extLst>
              <a:ext uri="{FF2B5EF4-FFF2-40B4-BE49-F238E27FC236}">
                <a16:creationId xmlns:a16="http://schemas.microsoft.com/office/drawing/2014/main" id="{68A1C033-A219-CA72-E858-B38A3CCD7376}"/>
              </a:ext>
            </a:extLst>
          </p:cNvPr>
          <p:cNvGraphicFramePr>
            <a:graphicFrameLocks noGrp="1"/>
          </p:cNvGraphicFramePr>
          <p:nvPr>
            <p:extLst>
              <p:ext uri="{D42A27DB-BD31-4B8C-83A1-F6EECF244321}">
                <p14:modId xmlns:p14="http://schemas.microsoft.com/office/powerpoint/2010/main" val="3673650913"/>
              </p:ext>
            </p:extLst>
          </p:nvPr>
        </p:nvGraphicFramePr>
        <p:xfrm>
          <a:off x="1111250" y="5089208"/>
          <a:ext cx="12269788" cy="365760"/>
        </p:xfrm>
        <a:graphic>
          <a:graphicData uri="http://schemas.openxmlformats.org/drawingml/2006/table">
            <a:tbl>
              <a:tblPr/>
              <a:tblGrid>
                <a:gridCol w="12269788">
                  <a:extLst>
                    <a:ext uri="{9D8B030D-6E8A-4147-A177-3AD203B41FA5}">
                      <a16:colId xmlns:a16="http://schemas.microsoft.com/office/drawing/2014/main" val="2992861434"/>
                    </a:ext>
                  </a:extLst>
                </a:gridCol>
              </a:tblGrid>
              <a:tr h="0">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393093527"/>
                  </a:ext>
                </a:extLst>
              </a:tr>
            </a:tbl>
          </a:graphicData>
        </a:graphic>
      </p:graphicFrame>
    </p:spTree>
    <p:extLst>
      <p:ext uri="{BB962C8B-B14F-4D97-AF65-F5344CB8AC3E}">
        <p14:creationId xmlns:p14="http://schemas.microsoft.com/office/powerpoint/2010/main" val="174409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descr="$PPTXTitle">
            <a:extLst>
              <a:ext uri="{FF2B5EF4-FFF2-40B4-BE49-F238E27FC236}">
                <a16:creationId xmlns:a16="http://schemas.microsoft.com/office/drawing/2014/main" id="{51130ED2-5817-700E-3927-39A3769C8ECA}"/>
              </a:ext>
            </a:extLst>
          </p:cNvPr>
          <p:cNvSpPr txBox="1">
            <a:spLocks/>
          </p:cNvSpPr>
          <p:nvPr/>
        </p:nvSpPr>
        <p:spPr>
          <a:xfrm>
            <a:off x="-5410200" y="800100"/>
            <a:ext cx="16614532" cy="1490793"/>
          </a:xfrm>
          <a:prstGeom prst="rect">
            <a:avLst/>
          </a:prstGeom>
        </p:spPr>
        <p:txBody>
          <a:bodyPr vert="horz" wrap="square" lIns="0" tIns="13335" rIns="0" bIns="0" rtlCol="0">
            <a:spAutoFit/>
          </a:bodyPr>
          <a:lstStyle>
            <a:lvl1pPr>
              <a:defRPr sz="6400" b="0" i="0" u="sng">
                <a:solidFill>
                  <a:schemeClr val="tx1"/>
                </a:solidFill>
                <a:latin typeface="Times New Roman"/>
                <a:ea typeface="+mj-ea"/>
                <a:cs typeface="Times New Roman"/>
              </a:defRPr>
            </a:lvl1pPr>
          </a:lstStyle>
          <a:p>
            <a:pPr marL="12700" algn="ctr">
              <a:spcBef>
                <a:spcPts val="105"/>
              </a:spcBef>
            </a:pPr>
            <a:r>
              <a:rPr lang="en-IN" sz="4800" u="none" dirty="0">
                <a:latin typeface="Times New Roman" panose="02020603050405020304" pitchFamily="18" charset="0"/>
                <a:cs typeface="Times New Roman" panose="02020603050405020304" pitchFamily="18" charset="0"/>
              </a:rPr>
              <a:t>RESULTS: </a:t>
            </a:r>
            <a:br>
              <a:rPr lang="en-IN" sz="4800" u="none" dirty="0">
                <a:latin typeface="Times New Roman" panose="02020603050405020304" pitchFamily="18" charset="0"/>
                <a:cs typeface="Times New Roman" panose="02020603050405020304" pitchFamily="18" charset="0"/>
              </a:rPr>
            </a:br>
            <a:endParaRPr lang="en-IN" sz="4800" u="none" spc="-10" dirty="0"/>
          </a:p>
        </p:txBody>
      </p:sp>
      <p:cxnSp>
        <p:nvCxnSpPr>
          <p:cNvPr id="4" name="Straight Connector 3">
            <a:extLst>
              <a:ext uri="{FF2B5EF4-FFF2-40B4-BE49-F238E27FC236}">
                <a16:creationId xmlns:a16="http://schemas.microsoft.com/office/drawing/2014/main" id="{32FD423B-70AA-0E06-D7DA-B9EE71438A0E}"/>
              </a:ext>
            </a:extLst>
          </p:cNvPr>
          <p:cNvCxnSpPr/>
          <p:nvPr/>
        </p:nvCxnSpPr>
        <p:spPr>
          <a:xfrm>
            <a:off x="533400" y="9715500"/>
            <a:ext cx="17221200" cy="0"/>
          </a:xfrm>
          <a:prstGeom prst="line">
            <a:avLst/>
          </a:prstGeom>
        </p:spPr>
        <p:style>
          <a:lnRef idx="2">
            <a:schemeClr val="dk1"/>
          </a:lnRef>
          <a:fillRef idx="0">
            <a:schemeClr val="dk1"/>
          </a:fillRef>
          <a:effectRef idx="1">
            <a:schemeClr val="dk1"/>
          </a:effectRef>
          <a:fontRef idx="minor">
            <a:schemeClr val="tx1"/>
          </a:fontRef>
        </p:style>
      </p:cxnSp>
      <p:pic>
        <p:nvPicPr>
          <p:cNvPr id="6" name="Picture 5">
            <a:extLst>
              <a:ext uri="{FF2B5EF4-FFF2-40B4-BE49-F238E27FC236}">
                <a16:creationId xmlns:a16="http://schemas.microsoft.com/office/drawing/2014/main" id="{463C47E8-DE4E-9C9A-F56E-DDCEB24FC3C7}"/>
              </a:ext>
            </a:extLst>
          </p:cNvPr>
          <p:cNvPicPr>
            <a:picLocks noChangeAspect="1"/>
          </p:cNvPicPr>
          <p:nvPr/>
        </p:nvPicPr>
        <p:blipFill>
          <a:blip r:embed="rId2"/>
          <a:stretch>
            <a:fillRect/>
          </a:stretch>
        </p:blipFill>
        <p:spPr>
          <a:xfrm>
            <a:off x="9372600" y="1339758"/>
            <a:ext cx="7010400" cy="8000998"/>
          </a:xfrm>
          <a:prstGeom prst="rect">
            <a:avLst/>
          </a:prstGeom>
        </p:spPr>
      </p:pic>
      <p:pic>
        <p:nvPicPr>
          <p:cNvPr id="8" name="Picture 7">
            <a:extLst>
              <a:ext uri="{FF2B5EF4-FFF2-40B4-BE49-F238E27FC236}">
                <a16:creationId xmlns:a16="http://schemas.microsoft.com/office/drawing/2014/main" id="{31EC1EF4-998B-B6A5-6A89-2A9E6336F2A9}"/>
              </a:ext>
            </a:extLst>
          </p:cNvPr>
          <p:cNvPicPr>
            <a:picLocks noChangeAspect="1"/>
          </p:cNvPicPr>
          <p:nvPr/>
        </p:nvPicPr>
        <p:blipFill>
          <a:blip r:embed="rId3"/>
          <a:stretch>
            <a:fillRect/>
          </a:stretch>
        </p:blipFill>
        <p:spPr>
          <a:xfrm>
            <a:off x="2209800" y="1545496"/>
            <a:ext cx="7162800" cy="7589523"/>
          </a:xfrm>
          <a:prstGeom prst="rect">
            <a:avLst/>
          </a:prstGeom>
        </p:spPr>
      </p:pic>
    </p:spTree>
    <p:extLst>
      <p:ext uri="{BB962C8B-B14F-4D97-AF65-F5344CB8AC3E}">
        <p14:creationId xmlns:p14="http://schemas.microsoft.com/office/powerpoint/2010/main" val="2667322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02004" y="801576"/>
            <a:ext cx="14199057" cy="752129"/>
          </a:xfrm>
          <a:prstGeom prst="rect">
            <a:avLst/>
          </a:prstGeom>
        </p:spPr>
        <p:txBody>
          <a:bodyPr vert="horz" wrap="square" lIns="0" tIns="13335" rIns="0" bIns="0" rtlCol="0">
            <a:spAutoFit/>
          </a:bodyPr>
          <a:lstStyle/>
          <a:p>
            <a:pPr marL="12700">
              <a:lnSpc>
                <a:spcPct val="100000"/>
              </a:lnSpc>
              <a:spcBef>
                <a:spcPts val="105"/>
              </a:spcBef>
            </a:pPr>
            <a:r>
              <a:rPr sz="4800" u="none" spc="-10" dirty="0"/>
              <a:t>References</a:t>
            </a:r>
          </a:p>
        </p:txBody>
      </p:sp>
      <p:sp>
        <p:nvSpPr>
          <p:cNvPr id="3" name="object 3"/>
          <p:cNvSpPr txBox="1"/>
          <p:nvPr/>
        </p:nvSpPr>
        <p:spPr>
          <a:xfrm>
            <a:off x="902004" y="1906952"/>
            <a:ext cx="7954645" cy="7552067"/>
          </a:xfrm>
          <a:prstGeom prst="rect">
            <a:avLst/>
          </a:prstGeom>
        </p:spPr>
        <p:txBody>
          <a:bodyPr vert="horz" wrap="square" lIns="0" tIns="11430" rIns="0" bIns="0" rtlCol="0">
            <a:spAutoFit/>
          </a:bodyPr>
          <a:lstStyle/>
          <a:p>
            <a:pPr marL="12700" marR="239395" algn="just">
              <a:lnSpc>
                <a:spcPct val="100000"/>
              </a:lnSpc>
              <a:spcBef>
                <a:spcPts val="90"/>
              </a:spcBef>
              <a:tabLst>
                <a:tab pos="370840" algn="l"/>
              </a:tabLst>
            </a:pPr>
            <a:r>
              <a:rPr lang="en-IN" sz="2000" dirty="0">
                <a:latin typeface="Times New Roman"/>
                <a:cs typeface="Times New Roman"/>
              </a:rPr>
              <a:t>[1]</a:t>
            </a:r>
            <a:r>
              <a:rPr lang="en-IN" sz="2000" dirty="0"/>
              <a:t>A. </a:t>
            </a:r>
            <a:r>
              <a:rPr lang="en-IN" sz="2000" dirty="0" err="1"/>
              <a:t>Ridhawi</a:t>
            </a:r>
            <a:r>
              <a:rPr lang="en-IN" sz="2000" dirty="0"/>
              <a:t> and M. </a:t>
            </a:r>
            <a:r>
              <a:rPr lang="en-IN" sz="2000" dirty="0" err="1"/>
              <a:t>Aloqaily</a:t>
            </a:r>
            <a:r>
              <a:rPr lang="en-IN" sz="2000" dirty="0"/>
              <a:t>, “Zero-trust UAV-enabled and DT supported 6G networks,” in Proc. IEEE </a:t>
            </a:r>
            <a:r>
              <a:rPr lang="en-IN" sz="2000" dirty="0">
                <a:latin typeface="Times New Roman" panose="02020603050405020304" pitchFamily="18" charset="0"/>
                <a:cs typeface="Times New Roman" panose="02020603050405020304" pitchFamily="18" charset="0"/>
              </a:rPr>
              <a:t>Global</a:t>
            </a:r>
            <a:r>
              <a:rPr lang="en-IN" sz="2000" dirty="0"/>
              <a:t> Commun. Conf. (GLOBECOM), Dec. 2023, pp. 6171–6176. </a:t>
            </a:r>
          </a:p>
          <a:p>
            <a:pPr marL="12700" marR="239395" lvl="1" algn="just">
              <a:spcBef>
                <a:spcPts val="90"/>
              </a:spcBef>
              <a:tabLst>
                <a:tab pos="370840" algn="l"/>
              </a:tabLst>
            </a:pPr>
            <a:endParaRPr lang="en-IN" sz="2000" dirty="0"/>
          </a:p>
          <a:p>
            <a:pPr marL="12700" marR="239395" algn="just">
              <a:lnSpc>
                <a:spcPct val="100000"/>
              </a:lnSpc>
              <a:spcBef>
                <a:spcPts val="90"/>
              </a:spcBef>
              <a:tabLst>
                <a:tab pos="370840" algn="l"/>
              </a:tabLst>
            </a:pPr>
            <a:r>
              <a:rPr lang="en-IN" sz="2000" dirty="0"/>
              <a:t>[2] I. Al </a:t>
            </a:r>
            <a:r>
              <a:rPr lang="en-IN" sz="2000" dirty="0" err="1"/>
              <a:t>Ridhawi</a:t>
            </a:r>
            <a:r>
              <a:rPr lang="en-IN" sz="2000" dirty="0"/>
              <a:t>, S. </a:t>
            </a:r>
            <a:r>
              <a:rPr lang="en-IN" sz="2000" dirty="0" err="1"/>
              <a:t>Otoum</a:t>
            </a:r>
            <a:r>
              <a:rPr lang="en-IN" sz="2000" dirty="0"/>
              <a:t>, and M. </a:t>
            </a:r>
            <a:r>
              <a:rPr lang="en-IN" sz="2000" dirty="0" err="1"/>
              <a:t>Aloqaily</a:t>
            </a:r>
            <a:r>
              <a:rPr lang="en-IN" sz="2000" dirty="0"/>
              <a:t>, “Decentralized zero-trust framework for digital twin-based 6G,” 2023, arXiv:2302.03107.</a:t>
            </a:r>
          </a:p>
          <a:p>
            <a:pPr marL="12700" marR="239395" algn="just">
              <a:lnSpc>
                <a:spcPct val="100000"/>
              </a:lnSpc>
              <a:spcBef>
                <a:spcPts val="90"/>
              </a:spcBef>
              <a:tabLst>
                <a:tab pos="370840" algn="l"/>
              </a:tabLst>
            </a:pPr>
            <a:endParaRPr lang="en-IN" sz="2000" dirty="0"/>
          </a:p>
          <a:p>
            <a:pPr marL="12700" marR="239395" algn="just">
              <a:lnSpc>
                <a:spcPct val="100000"/>
              </a:lnSpc>
              <a:spcBef>
                <a:spcPts val="90"/>
              </a:spcBef>
              <a:tabLst>
                <a:tab pos="370840" algn="l"/>
              </a:tabLst>
            </a:pPr>
            <a:r>
              <a:rPr lang="en-IN" sz="2000" dirty="0"/>
              <a:t> [3] M. </a:t>
            </a:r>
            <a:r>
              <a:rPr lang="en-IN" sz="2000" dirty="0" err="1"/>
              <a:t>Aloqaily</a:t>
            </a:r>
            <a:r>
              <a:rPr lang="en-IN" sz="2000" dirty="0"/>
              <a:t>, S. </a:t>
            </a:r>
            <a:r>
              <a:rPr lang="en-IN" sz="2000" dirty="0" err="1"/>
              <a:t>Otoum</a:t>
            </a:r>
            <a:r>
              <a:rPr lang="en-IN" sz="2000" dirty="0"/>
              <a:t>, I. A. </a:t>
            </a:r>
            <a:r>
              <a:rPr lang="en-IN" sz="2000" dirty="0" err="1"/>
              <a:t>Ridhawi</a:t>
            </a:r>
            <a:r>
              <a:rPr lang="en-IN" sz="2000" dirty="0"/>
              <a:t>, and Y. </a:t>
            </a:r>
            <a:r>
              <a:rPr lang="en-IN" sz="2000" dirty="0" err="1"/>
              <a:t>Jararweh</a:t>
            </a:r>
            <a:r>
              <a:rPr lang="en-IN" sz="2000" dirty="0"/>
              <a:t>, “An intrusion detection system for connected vehicles in smart cities,” Ad Hoc </a:t>
            </a:r>
            <a:r>
              <a:rPr lang="en-IN" sz="2000" dirty="0" err="1"/>
              <a:t>Netw</a:t>
            </a:r>
            <a:r>
              <a:rPr lang="en-IN" sz="2000" dirty="0"/>
              <a:t>., vol. 90, Jul. 2019, Art. no. 101842.</a:t>
            </a:r>
          </a:p>
          <a:p>
            <a:pPr marL="12700" marR="239395" algn="just">
              <a:lnSpc>
                <a:spcPct val="100000"/>
              </a:lnSpc>
              <a:spcBef>
                <a:spcPts val="90"/>
              </a:spcBef>
              <a:tabLst>
                <a:tab pos="370840" algn="l"/>
              </a:tabLst>
            </a:pPr>
            <a:endParaRPr lang="en-IN" sz="2000" dirty="0"/>
          </a:p>
          <a:p>
            <a:pPr marL="12700" marR="239395" algn="just">
              <a:lnSpc>
                <a:spcPct val="100000"/>
              </a:lnSpc>
              <a:spcBef>
                <a:spcPts val="90"/>
              </a:spcBef>
              <a:tabLst>
                <a:tab pos="370840" algn="l"/>
              </a:tabLst>
            </a:pPr>
            <a:r>
              <a:rPr lang="en-IN" sz="2000" dirty="0"/>
              <a:t> [4] D. Arp et al., “Dos and don’ts of machine learning in computer security,” in Proc. USENIX </a:t>
            </a:r>
            <a:r>
              <a:rPr lang="en-IN" sz="2000" dirty="0" err="1"/>
              <a:t>Secur</a:t>
            </a:r>
            <a:r>
              <a:rPr lang="en-IN" sz="2000" dirty="0"/>
              <a:t>. Symp., 2022, pp. 3971–3988. </a:t>
            </a:r>
          </a:p>
          <a:p>
            <a:pPr marL="12700" marR="239395" algn="just">
              <a:lnSpc>
                <a:spcPct val="100000"/>
              </a:lnSpc>
              <a:spcBef>
                <a:spcPts val="90"/>
              </a:spcBef>
              <a:tabLst>
                <a:tab pos="370840" algn="l"/>
              </a:tabLst>
            </a:pPr>
            <a:endParaRPr lang="en-IN" sz="2000" dirty="0"/>
          </a:p>
          <a:p>
            <a:pPr marL="12700" marR="239395" algn="just">
              <a:lnSpc>
                <a:spcPct val="100000"/>
              </a:lnSpc>
              <a:spcBef>
                <a:spcPts val="90"/>
              </a:spcBef>
              <a:tabLst>
                <a:tab pos="370840" algn="l"/>
              </a:tabLst>
            </a:pPr>
            <a:r>
              <a:rPr lang="en-IN" sz="2000" dirty="0"/>
              <a:t>[5] F. Pendlebury, F. </a:t>
            </a:r>
            <a:r>
              <a:rPr lang="en-IN" sz="2000" dirty="0" err="1"/>
              <a:t>Pierazzi</a:t>
            </a:r>
            <a:r>
              <a:rPr lang="en-IN" sz="2000" dirty="0"/>
              <a:t>, R. </a:t>
            </a:r>
            <a:r>
              <a:rPr lang="en-IN" sz="2000" dirty="0" err="1"/>
              <a:t>Jordaney</a:t>
            </a:r>
            <a:r>
              <a:rPr lang="en-IN" sz="2000" dirty="0"/>
              <a:t>, J. Kinder, and L. Cavallaro, “TESSERACT: Eliminating experimental bias in malware </a:t>
            </a:r>
            <a:r>
              <a:rPr lang="en-IN" sz="2000" dirty="0" err="1"/>
              <a:t>classifica</a:t>
            </a:r>
            <a:r>
              <a:rPr lang="en-IN" sz="2000" dirty="0"/>
              <a:t> </a:t>
            </a:r>
            <a:r>
              <a:rPr lang="en-IN" sz="2000" dirty="0" err="1"/>
              <a:t>tion</a:t>
            </a:r>
            <a:r>
              <a:rPr lang="en-IN" sz="2000" dirty="0"/>
              <a:t> across space and time,” in Proc. USENIX </a:t>
            </a:r>
            <a:r>
              <a:rPr lang="en-IN" sz="2000" dirty="0" err="1"/>
              <a:t>Secur</a:t>
            </a:r>
            <a:r>
              <a:rPr lang="en-IN" sz="2000" dirty="0"/>
              <a:t>. Symp., 2019, pp. 729–746.</a:t>
            </a:r>
          </a:p>
          <a:p>
            <a:pPr marL="12700" marR="239395" algn="just">
              <a:lnSpc>
                <a:spcPct val="100000"/>
              </a:lnSpc>
              <a:spcBef>
                <a:spcPts val="90"/>
              </a:spcBef>
              <a:tabLst>
                <a:tab pos="370840" algn="l"/>
              </a:tabLst>
            </a:pPr>
            <a:endParaRPr lang="en-IN" sz="2000" dirty="0"/>
          </a:p>
          <a:p>
            <a:pPr marL="12700" marR="239395" algn="just">
              <a:lnSpc>
                <a:spcPct val="100000"/>
              </a:lnSpc>
              <a:spcBef>
                <a:spcPts val="90"/>
              </a:spcBef>
              <a:tabLst>
                <a:tab pos="370840" algn="l"/>
              </a:tabLst>
            </a:pPr>
            <a:r>
              <a:rPr lang="en-IN" sz="2000" dirty="0"/>
              <a:t>[6] E. M. Rudd, F. N. </a:t>
            </a:r>
            <a:r>
              <a:rPr lang="en-IN" sz="2000" dirty="0" err="1"/>
              <a:t>Ducau</a:t>
            </a:r>
            <a:r>
              <a:rPr lang="en-IN" sz="2000" dirty="0"/>
              <a:t>, C. Wild, K. Berlin, and R. Harang, “ALOHA: Auxiliary loss optimization for hypothesis augmentation,” in Proc. USENIX </a:t>
            </a:r>
            <a:r>
              <a:rPr lang="en-IN" sz="2000" dirty="0" err="1"/>
              <a:t>Secur</a:t>
            </a:r>
            <a:r>
              <a:rPr lang="en-IN" sz="2000" dirty="0"/>
              <a:t>. Symp., Jan. 2019, pp. 303–320.</a:t>
            </a:r>
          </a:p>
          <a:p>
            <a:pPr marL="12700" marR="239395">
              <a:lnSpc>
                <a:spcPct val="100000"/>
              </a:lnSpc>
              <a:spcBef>
                <a:spcPts val="90"/>
              </a:spcBef>
              <a:tabLst>
                <a:tab pos="370840" algn="l"/>
              </a:tabLst>
            </a:pPr>
            <a:endParaRPr lang="en-IN" sz="2000" dirty="0">
              <a:latin typeface="Times New Roman"/>
              <a:cs typeface="Times New Roman"/>
            </a:endParaRPr>
          </a:p>
          <a:p>
            <a:pPr marL="12700" marR="239395">
              <a:lnSpc>
                <a:spcPct val="100000"/>
              </a:lnSpc>
              <a:spcBef>
                <a:spcPts val="90"/>
              </a:spcBef>
              <a:tabLst>
                <a:tab pos="370840" algn="l"/>
              </a:tabLst>
            </a:pPr>
            <a:endParaRPr sz="2000" dirty="0">
              <a:latin typeface="Times New Roman"/>
              <a:cs typeface="Times New Roman"/>
            </a:endParaRPr>
          </a:p>
        </p:txBody>
      </p:sp>
      <p:sp>
        <p:nvSpPr>
          <p:cNvPr id="4" name="object 4"/>
          <p:cNvSpPr txBox="1">
            <a:spLocks noGrp="1"/>
          </p:cNvSpPr>
          <p:nvPr>
            <p:ph sz="half" idx="3"/>
          </p:nvPr>
        </p:nvSpPr>
        <p:spPr>
          <a:xfrm>
            <a:off x="9416111" y="1833046"/>
            <a:ext cx="7954645" cy="6269665"/>
          </a:xfrm>
          <a:prstGeom prst="rect">
            <a:avLst/>
          </a:prstGeom>
        </p:spPr>
        <p:txBody>
          <a:bodyPr vert="horz" wrap="square" lIns="0" tIns="11430" rIns="0" bIns="0" rtlCol="0">
            <a:spAutoFit/>
          </a:bodyPr>
          <a:lstStyle/>
          <a:p>
            <a:pPr marL="12700" marR="5080" algn="just">
              <a:lnSpc>
                <a:spcPct val="100000"/>
              </a:lnSpc>
              <a:spcBef>
                <a:spcPts val="90"/>
              </a:spcBef>
              <a:tabLst>
                <a:tab pos="370840" algn="l"/>
              </a:tabLst>
            </a:pPr>
            <a:r>
              <a:rPr lang="en-IN" u="none" dirty="0"/>
              <a:t>[7] M. Sarhan, S. </a:t>
            </a:r>
            <a:r>
              <a:rPr lang="en-IN" u="none" dirty="0" err="1"/>
              <a:t>Layeghy</a:t>
            </a:r>
            <a:r>
              <a:rPr lang="en-IN" u="none" dirty="0"/>
              <a:t>, and M. Portmann, “Towards a standard feature set for network intrusion detection system datasets,” Mobile </a:t>
            </a:r>
            <a:r>
              <a:rPr lang="en-IN" u="none" dirty="0" err="1"/>
              <a:t>Netw</a:t>
            </a:r>
            <a:r>
              <a:rPr lang="en-IN" u="none" dirty="0"/>
              <a:t>. Appl., vol. 27, no. 1, pp. 357–370, Feb. 2022.</a:t>
            </a:r>
          </a:p>
          <a:p>
            <a:pPr marL="12700" marR="5080" algn="just">
              <a:lnSpc>
                <a:spcPct val="100000"/>
              </a:lnSpc>
              <a:spcBef>
                <a:spcPts val="90"/>
              </a:spcBef>
              <a:tabLst>
                <a:tab pos="370840" algn="l"/>
              </a:tabLst>
            </a:pPr>
            <a:endParaRPr lang="en-IN" u="none" dirty="0"/>
          </a:p>
          <a:p>
            <a:pPr marL="12700" marR="5080" algn="just">
              <a:lnSpc>
                <a:spcPct val="100000"/>
              </a:lnSpc>
              <a:spcBef>
                <a:spcPts val="90"/>
              </a:spcBef>
              <a:tabLst>
                <a:tab pos="370840" algn="l"/>
              </a:tabLst>
            </a:pPr>
            <a:r>
              <a:rPr lang="en-IN" u="none" dirty="0"/>
              <a:t> [8] K. He, D. D. Kim, and M. R. Asghar, “Adversarial machine learning for network intrusion detection systems: A comprehensive survey,” IEEE Commun. Surveys Tuts., vol. 25, no. 1, pp. 538–566, 1st Quart., 2023. </a:t>
            </a:r>
          </a:p>
          <a:p>
            <a:pPr marL="12700" marR="5080" algn="just">
              <a:lnSpc>
                <a:spcPct val="100000"/>
              </a:lnSpc>
              <a:spcBef>
                <a:spcPts val="90"/>
              </a:spcBef>
              <a:tabLst>
                <a:tab pos="370840" algn="l"/>
              </a:tabLst>
            </a:pPr>
            <a:endParaRPr lang="en-IN" u="none" dirty="0"/>
          </a:p>
          <a:p>
            <a:pPr marL="12700" marR="5080" algn="just">
              <a:lnSpc>
                <a:spcPct val="100000"/>
              </a:lnSpc>
              <a:spcBef>
                <a:spcPts val="90"/>
              </a:spcBef>
              <a:tabLst>
                <a:tab pos="370840" algn="l"/>
              </a:tabLst>
            </a:pPr>
            <a:r>
              <a:rPr lang="en-IN" u="none" dirty="0"/>
              <a:t>[9] J. Vitorino, I. </a:t>
            </a:r>
            <a:r>
              <a:rPr lang="en-IN" u="none" dirty="0" err="1"/>
              <a:t>Prac¸a</a:t>
            </a:r>
            <a:r>
              <a:rPr lang="en-IN" u="none" dirty="0"/>
              <a:t>, and E. Maia, “</a:t>
            </a:r>
            <a:r>
              <a:rPr lang="en-IN" u="none" dirty="0" err="1"/>
              <a:t>SoK</a:t>
            </a:r>
            <a:r>
              <a:rPr lang="en-IN" u="none" dirty="0"/>
              <a:t>: Realistic adversarial attacks and </a:t>
            </a:r>
            <a:r>
              <a:rPr lang="en-IN" u="none" dirty="0" err="1"/>
              <a:t>defenses</a:t>
            </a:r>
            <a:r>
              <a:rPr lang="en-IN" u="none" dirty="0"/>
              <a:t> for intelligent network intrusion detection,” </a:t>
            </a:r>
            <a:r>
              <a:rPr lang="en-IN" u="none" dirty="0" err="1"/>
              <a:t>Comput</a:t>
            </a:r>
            <a:r>
              <a:rPr lang="en-IN" u="none" dirty="0"/>
              <a:t>. </a:t>
            </a:r>
            <a:r>
              <a:rPr lang="en-IN" u="none" dirty="0" err="1"/>
              <a:t>Secur</a:t>
            </a:r>
            <a:r>
              <a:rPr lang="en-IN" u="none" dirty="0"/>
              <a:t>., vol. 134, Nov. 2023, Art. no. 103433.</a:t>
            </a:r>
          </a:p>
          <a:p>
            <a:pPr marL="12700" marR="5080" algn="just">
              <a:lnSpc>
                <a:spcPct val="100000"/>
              </a:lnSpc>
              <a:spcBef>
                <a:spcPts val="90"/>
              </a:spcBef>
              <a:tabLst>
                <a:tab pos="370840" algn="l"/>
              </a:tabLst>
            </a:pPr>
            <a:endParaRPr lang="en-IN" u="none" dirty="0"/>
          </a:p>
          <a:p>
            <a:pPr marL="12700" marR="5080" algn="just">
              <a:lnSpc>
                <a:spcPct val="100000"/>
              </a:lnSpc>
              <a:spcBef>
                <a:spcPts val="90"/>
              </a:spcBef>
              <a:tabLst>
                <a:tab pos="370840" algn="l"/>
              </a:tabLst>
            </a:pPr>
            <a:r>
              <a:rPr lang="en-IN" u="none" dirty="0"/>
              <a:t> [10] Z. Li, A. L. G. Rios, and L. </a:t>
            </a:r>
            <a:r>
              <a:rPr lang="en-IN" u="none" dirty="0" err="1"/>
              <a:t>Trajkovi´c</a:t>
            </a:r>
            <a:r>
              <a:rPr lang="en-IN" u="none" dirty="0"/>
              <a:t>, “Machine learning for detecting anomalies and intrusions in communication networks,” IEEE J. Sel. Areas Commun., vol. 39, no. 7, pp. 2254–2264, Jul. 2021. </a:t>
            </a:r>
          </a:p>
          <a:p>
            <a:pPr marL="12700" marR="5080" algn="just">
              <a:lnSpc>
                <a:spcPct val="100000"/>
              </a:lnSpc>
              <a:spcBef>
                <a:spcPts val="90"/>
              </a:spcBef>
              <a:tabLst>
                <a:tab pos="370840" algn="l"/>
              </a:tabLst>
            </a:pPr>
            <a:endParaRPr lang="en-IN" u="none" dirty="0"/>
          </a:p>
          <a:p>
            <a:pPr marL="12700" marR="5080" algn="just">
              <a:lnSpc>
                <a:spcPct val="100000"/>
              </a:lnSpc>
              <a:spcBef>
                <a:spcPts val="90"/>
              </a:spcBef>
              <a:tabLst>
                <a:tab pos="370840" algn="l"/>
              </a:tabLst>
            </a:pPr>
            <a:r>
              <a:rPr lang="en-IN" u="none" dirty="0"/>
              <a:t>[11] S. Muneer, U. Farooq, A. Athar, M. A. Raza, T. M. Ghazal, and S. Sakib, “A critical review of artificial intelligence based approaches in intrusion detection: A comprehensive analysis,” J. Eng., vol. 2024, no. 1, Jan. 2024, Art. no. 3909173. </a:t>
            </a:r>
          </a:p>
        </p:txBody>
      </p:sp>
      <p:cxnSp>
        <p:nvCxnSpPr>
          <p:cNvPr id="5" name="Straight Connector 4">
            <a:extLst>
              <a:ext uri="{FF2B5EF4-FFF2-40B4-BE49-F238E27FC236}">
                <a16:creationId xmlns:a16="http://schemas.microsoft.com/office/drawing/2014/main" id="{B399B587-2FFE-E3DB-97B8-DDB6D73883C0}"/>
              </a:ext>
            </a:extLst>
          </p:cNvPr>
          <p:cNvCxnSpPr/>
          <p:nvPr/>
        </p:nvCxnSpPr>
        <p:spPr>
          <a:xfrm>
            <a:off x="533400" y="9715500"/>
            <a:ext cx="17221200" cy="0"/>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951601" y="4029329"/>
            <a:ext cx="6356985" cy="1671955"/>
          </a:xfrm>
          <a:prstGeom prst="rect">
            <a:avLst/>
          </a:prstGeom>
        </p:spPr>
        <p:txBody>
          <a:bodyPr vert="horz" wrap="square" lIns="0" tIns="12700" rIns="0" bIns="0" rtlCol="0">
            <a:spAutoFit/>
          </a:bodyPr>
          <a:lstStyle/>
          <a:p>
            <a:pPr marL="12700">
              <a:lnSpc>
                <a:spcPct val="100000"/>
              </a:lnSpc>
              <a:spcBef>
                <a:spcPts val="100"/>
              </a:spcBef>
            </a:pPr>
            <a:r>
              <a:rPr sz="10800" u="none" spc="525" dirty="0"/>
              <a:t>Than</a:t>
            </a:r>
            <a:r>
              <a:rPr sz="10800" u="none" spc="-15" dirty="0"/>
              <a:t>k</a:t>
            </a:r>
            <a:r>
              <a:rPr sz="10800" u="none" spc="625" dirty="0"/>
              <a:t> </a:t>
            </a:r>
            <a:r>
              <a:rPr sz="10800" u="none" spc="165" dirty="0"/>
              <a:t>you</a:t>
            </a:r>
            <a:endParaRPr sz="10800"/>
          </a:p>
        </p:txBody>
      </p:sp>
      <p:sp>
        <p:nvSpPr>
          <p:cNvPr id="3" name="object 3"/>
          <p:cNvSpPr/>
          <p:nvPr/>
        </p:nvSpPr>
        <p:spPr>
          <a:xfrm>
            <a:off x="4160520" y="6247765"/>
            <a:ext cx="9960610" cy="85725"/>
          </a:xfrm>
          <a:custGeom>
            <a:avLst/>
            <a:gdLst/>
            <a:ahLst/>
            <a:cxnLst/>
            <a:rect l="l" t="t" r="r" b="b"/>
            <a:pathLst>
              <a:path w="9960610" h="85725">
                <a:moveTo>
                  <a:pt x="9960482" y="0"/>
                </a:moveTo>
                <a:lnTo>
                  <a:pt x="0" y="0"/>
                </a:lnTo>
                <a:lnTo>
                  <a:pt x="0" y="85725"/>
                </a:lnTo>
                <a:lnTo>
                  <a:pt x="9960482" y="85725"/>
                </a:lnTo>
                <a:lnTo>
                  <a:pt x="9960482" y="0"/>
                </a:lnTo>
                <a:close/>
              </a:path>
            </a:pathLst>
          </a:custGeom>
          <a:solidFill>
            <a:srgbClr val="000000"/>
          </a:solidFill>
        </p:spPr>
        <p:txBody>
          <a:bodyPr wrap="square" lIns="0" tIns="0" rIns="0" bIns="0" rtlCol="0"/>
          <a:lstStyle/>
          <a:p>
            <a:endParaRPr/>
          </a:p>
        </p:txBody>
      </p:sp>
      <p:sp>
        <p:nvSpPr>
          <p:cNvPr id="4" name="object 4"/>
          <p:cNvSpPr/>
          <p:nvPr/>
        </p:nvSpPr>
        <p:spPr>
          <a:xfrm>
            <a:off x="4160520" y="3773423"/>
            <a:ext cx="9960610" cy="85725"/>
          </a:xfrm>
          <a:custGeom>
            <a:avLst/>
            <a:gdLst/>
            <a:ahLst/>
            <a:cxnLst/>
            <a:rect l="l" t="t" r="r" b="b"/>
            <a:pathLst>
              <a:path w="9960610" h="85725">
                <a:moveTo>
                  <a:pt x="9960482" y="0"/>
                </a:moveTo>
                <a:lnTo>
                  <a:pt x="0" y="0"/>
                </a:lnTo>
                <a:lnTo>
                  <a:pt x="0" y="85725"/>
                </a:lnTo>
                <a:lnTo>
                  <a:pt x="9960482" y="85725"/>
                </a:lnTo>
                <a:lnTo>
                  <a:pt x="9960482" y="0"/>
                </a:lnTo>
                <a:close/>
              </a:path>
            </a:pathLst>
          </a:custGeom>
          <a:solidFill>
            <a:srgbClr val="000000"/>
          </a:solidFill>
        </p:spPr>
        <p:txBody>
          <a:bodyPr wrap="square" lIns="0" tIns="0" rIns="0" bIns="0" rtlCol="0"/>
          <a:lstStyle/>
          <a:p>
            <a:endParaRPr/>
          </a:p>
        </p:txBody>
      </p:sp>
      <p:graphicFrame>
        <p:nvGraphicFramePr>
          <p:cNvPr id="5" name="Table 4">
            <a:extLst>
              <a:ext uri="{FF2B5EF4-FFF2-40B4-BE49-F238E27FC236}">
                <a16:creationId xmlns:a16="http://schemas.microsoft.com/office/drawing/2014/main" id="{D8052892-7B7F-08D9-E7CF-42149B4E6C42}"/>
              </a:ext>
            </a:extLst>
          </p:cNvPr>
          <p:cNvGraphicFramePr>
            <a:graphicFrameLocks noGrp="1"/>
          </p:cNvGraphicFramePr>
          <p:nvPr>
            <p:extLst>
              <p:ext uri="{D42A27DB-BD31-4B8C-83A1-F6EECF244321}">
                <p14:modId xmlns:p14="http://schemas.microsoft.com/office/powerpoint/2010/main" val="3849062496"/>
              </p:ext>
            </p:extLst>
          </p:nvPr>
        </p:nvGraphicFramePr>
        <p:xfrm>
          <a:off x="1295400" y="1010986"/>
          <a:ext cx="16154400" cy="8265028"/>
        </p:xfrm>
        <a:graphic>
          <a:graphicData uri="http://schemas.openxmlformats.org/drawingml/2006/table">
            <a:tbl>
              <a:tblPr>
                <a:tableStyleId>{2D5ABB26-0587-4C30-8999-92F81FD0307C}</a:tableStyleId>
              </a:tblPr>
              <a:tblGrid>
                <a:gridCol w="3230880">
                  <a:extLst>
                    <a:ext uri="{9D8B030D-6E8A-4147-A177-3AD203B41FA5}">
                      <a16:colId xmlns:a16="http://schemas.microsoft.com/office/drawing/2014/main" val="3138518320"/>
                    </a:ext>
                  </a:extLst>
                </a:gridCol>
                <a:gridCol w="3230880">
                  <a:extLst>
                    <a:ext uri="{9D8B030D-6E8A-4147-A177-3AD203B41FA5}">
                      <a16:colId xmlns:a16="http://schemas.microsoft.com/office/drawing/2014/main" val="1292432528"/>
                    </a:ext>
                  </a:extLst>
                </a:gridCol>
                <a:gridCol w="3230880">
                  <a:extLst>
                    <a:ext uri="{9D8B030D-6E8A-4147-A177-3AD203B41FA5}">
                      <a16:colId xmlns:a16="http://schemas.microsoft.com/office/drawing/2014/main" val="1315763333"/>
                    </a:ext>
                  </a:extLst>
                </a:gridCol>
                <a:gridCol w="3230880">
                  <a:extLst>
                    <a:ext uri="{9D8B030D-6E8A-4147-A177-3AD203B41FA5}">
                      <a16:colId xmlns:a16="http://schemas.microsoft.com/office/drawing/2014/main" val="1582608752"/>
                    </a:ext>
                  </a:extLst>
                </a:gridCol>
                <a:gridCol w="3230880">
                  <a:extLst>
                    <a:ext uri="{9D8B030D-6E8A-4147-A177-3AD203B41FA5}">
                      <a16:colId xmlns:a16="http://schemas.microsoft.com/office/drawing/2014/main" val="3026107063"/>
                    </a:ext>
                  </a:extLst>
                </a:gridCol>
              </a:tblGrid>
              <a:tr h="335092">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extLst>
                  <a:ext uri="{0D108BD9-81ED-4DB2-BD59-A6C34878D82A}">
                    <a16:rowId xmlns:a16="http://schemas.microsoft.com/office/drawing/2014/main" val="1436323802"/>
                  </a:ext>
                </a:extLst>
              </a:tr>
              <a:tr h="1088337">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extLst>
                  <a:ext uri="{0D108BD9-81ED-4DB2-BD59-A6C34878D82A}">
                    <a16:rowId xmlns:a16="http://schemas.microsoft.com/office/drawing/2014/main" val="335902368"/>
                  </a:ext>
                </a:extLst>
              </a:tr>
              <a:tr h="1192157">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extLst>
                  <a:ext uri="{0D108BD9-81ED-4DB2-BD59-A6C34878D82A}">
                    <a16:rowId xmlns:a16="http://schemas.microsoft.com/office/drawing/2014/main" val="2501237"/>
                  </a:ext>
                </a:extLst>
              </a:tr>
              <a:tr h="1292398">
                <a:tc>
                  <a:txBody>
                    <a:bodyPr/>
                    <a:lstStyle/>
                    <a:p>
                      <a:pPr algn="just">
                        <a:buNone/>
                      </a:pPr>
                      <a:endParaRPr lang="en-IN" sz="180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a:latin typeface="Times New Roman" panose="02020603050405020304" pitchFamily="18" charset="0"/>
                        <a:cs typeface="Times New Roman" panose="02020603050405020304" pitchFamily="18" charset="0"/>
                      </a:endParaRPr>
                    </a:p>
                  </a:txBody>
                  <a:tcPr marL="47438" marR="47438" marT="23719" marB="23719" anchor="ctr"/>
                </a:tc>
                <a:extLst>
                  <a:ext uri="{0D108BD9-81ED-4DB2-BD59-A6C34878D82A}">
                    <a16:rowId xmlns:a16="http://schemas.microsoft.com/office/drawing/2014/main" val="3552768374"/>
                  </a:ext>
                </a:extLst>
              </a:tr>
              <a:tr h="1069840">
                <a:tc>
                  <a:txBody>
                    <a:bodyPr/>
                    <a:lstStyle/>
                    <a:p>
                      <a:pPr algn="just">
                        <a:buNone/>
                      </a:pPr>
                      <a:endParaRPr lang="en-IN" sz="180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a:latin typeface="Times New Roman" panose="02020603050405020304" pitchFamily="18" charset="0"/>
                        <a:cs typeface="Times New Roman" panose="02020603050405020304" pitchFamily="18" charset="0"/>
                      </a:endParaRPr>
                    </a:p>
                  </a:txBody>
                  <a:tcPr marL="47438" marR="47438" marT="23719" marB="23719" anchor="ctr"/>
                </a:tc>
                <a:extLst>
                  <a:ext uri="{0D108BD9-81ED-4DB2-BD59-A6C34878D82A}">
                    <a16:rowId xmlns:a16="http://schemas.microsoft.com/office/drawing/2014/main" val="909121426"/>
                  </a:ext>
                </a:extLst>
              </a:tr>
              <a:tr h="1292398">
                <a:tc>
                  <a:txBody>
                    <a:bodyPr/>
                    <a:lstStyle/>
                    <a:p>
                      <a:pPr algn="just">
                        <a:buNone/>
                      </a:pPr>
                      <a:endParaRPr lang="en-IN" sz="180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extLst>
                  <a:ext uri="{0D108BD9-81ED-4DB2-BD59-A6C34878D82A}">
                    <a16:rowId xmlns:a16="http://schemas.microsoft.com/office/drawing/2014/main" val="1769334329"/>
                  </a:ext>
                </a:extLst>
              </a:tr>
              <a:tr h="1088337">
                <a:tc>
                  <a:txBody>
                    <a:bodyPr/>
                    <a:lstStyle/>
                    <a:p>
                      <a:pPr algn="just">
                        <a:buNone/>
                      </a:pPr>
                      <a:endParaRPr lang="en-IN" sz="180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extLst>
                  <a:ext uri="{0D108BD9-81ED-4DB2-BD59-A6C34878D82A}">
                    <a16:rowId xmlns:a16="http://schemas.microsoft.com/office/drawing/2014/main" val="4058382451"/>
                  </a:ext>
                </a:extLst>
              </a:tr>
              <a:tr h="906469">
                <a:tc>
                  <a:txBody>
                    <a:bodyPr/>
                    <a:lstStyle/>
                    <a:p>
                      <a:pPr algn="just">
                        <a:buNone/>
                      </a:pPr>
                      <a:endParaRPr lang="en-IN" sz="180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tc>
                  <a:txBody>
                    <a:bodyPr/>
                    <a:lstStyle/>
                    <a:p>
                      <a:pPr algn="just">
                        <a:buNone/>
                      </a:pPr>
                      <a:endParaRPr lang="en-IN" sz="1800" dirty="0">
                        <a:latin typeface="Times New Roman" panose="02020603050405020304" pitchFamily="18" charset="0"/>
                        <a:cs typeface="Times New Roman" panose="02020603050405020304" pitchFamily="18" charset="0"/>
                      </a:endParaRPr>
                    </a:p>
                  </a:txBody>
                  <a:tcPr marL="47438" marR="47438" marT="23719" marB="23719" anchor="ctr"/>
                </a:tc>
                <a:extLst>
                  <a:ext uri="{0D108BD9-81ED-4DB2-BD59-A6C34878D82A}">
                    <a16:rowId xmlns:a16="http://schemas.microsoft.com/office/drawing/2014/main" val="204911116"/>
                  </a:ext>
                </a:extLst>
              </a:tr>
            </a:tbl>
          </a:graphicData>
        </a:graphic>
      </p:graphicFrame>
      <p:cxnSp>
        <p:nvCxnSpPr>
          <p:cNvPr id="6" name="Straight Connector 5">
            <a:extLst>
              <a:ext uri="{FF2B5EF4-FFF2-40B4-BE49-F238E27FC236}">
                <a16:creationId xmlns:a16="http://schemas.microsoft.com/office/drawing/2014/main" id="{728A2BC5-CD05-5E3B-4B99-D44B5EE45181}"/>
              </a:ext>
            </a:extLst>
          </p:cNvPr>
          <p:cNvCxnSpPr/>
          <p:nvPr/>
        </p:nvCxnSpPr>
        <p:spPr>
          <a:xfrm>
            <a:off x="533400" y="9715500"/>
            <a:ext cx="17221200" cy="0"/>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1446</TotalTime>
  <Words>1703</Words>
  <Application>Microsoft Office PowerPoint</Application>
  <PresentationFormat>Custom</PresentationFormat>
  <Paragraphs>158</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Calibri</vt:lpstr>
      <vt:lpstr>Courier New</vt:lpstr>
      <vt:lpstr>Times New Roman</vt:lpstr>
      <vt:lpstr>Office Theme</vt:lpstr>
      <vt:lpstr>DEPARTMENT OF INFORMATION TECHNOLOGY</vt:lpstr>
      <vt:lpstr>Problem Statement</vt:lpstr>
      <vt:lpstr>Research gap Identified:</vt:lpstr>
      <vt:lpstr>Objectives</vt:lpstr>
      <vt:lpstr>PowerPoint Presentation</vt:lpstr>
      <vt:lpstr>PowerPoint Presentation</vt:lpstr>
      <vt:lpstr>PowerPoint Presentation</vt:lpstr>
      <vt:lpstr>PowerPoint Presentation</vt:lpstr>
      <vt:lpstr>Architecture of BASE PAPER </vt:lpstr>
      <vt:lpstr>PowerPoint Presentation</vt:lpstr>
      <vt:lpstr>PowerPoint Presentation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Gnanendhiran V</cp:lastModifiedBy>
  <cp:revision>16</cp:revision>
  <cp:lastPrinted>2026-07-23T17:19:57Z</cp:lastPrinted>
  <dcterms:created xsi:type="dcterms:W3CDTF">2026-07-19T10:02:16Z</dcterms:created>
  <dcterms:modified xsi:type="dcterms:W3CDTF">2026-07-24T09:46:58Z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2026-07-14T00:00:00Z</vt:filetime>
  </property>
  <property fmtid="{D5CDD505-2E9C-101B-9397-08002B2CF9AE}" pid="4" name="Creator">
    <vt:lpwstr>Microsoft® PowerPoint® 2016</vt:lpwstr>
  </property>
  <property fmtid="{D5CDD505-2E9C-101B-9397-08002B2CF9AE}" pid="5" name="LastSaved">
    <vt:filetime>2026-07-19T00:00:00Z</vt:filetime>
  </property>
  <property fmtid="{D5CDD505-2E9C-101B-9397-08002B2CF9AE}" pid="6" name="Producer">
    <vt:lpwstr>www.ilovepdf.com</vt:lpwstr>
  </property>
</Properties>
</file>