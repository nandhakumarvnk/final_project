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5"/>
  </p:notesMasterIdLst>
  <p:sldIdLst>
    <p:sldId id="267" r:id="rId4"/>
    <p:sldId id="293" r:id="rId5"/>
    <p:sldId id="300" r:id="rId6"/>
    <p:sldId id="301" r:id="rId7"/>
    <p:sldId id="311" r:id="rId8"/>
    <p:sldId id="294" r:id="rId9"/>
    <p:sldId id="296" r:id="rId10"/>
    <p:sldId id="312" r:id="rId11"/>
    <p:sldId id="309" r:id="rId12"/>
    <p:sldId id="297" r:id="rId13"/>
    <p:sldId id="298" r:id="rId14"/>
    <p:sldId id="299" r:id="rId15"/>
    <p:sldId id="302" r:id="rId16"/>
    <p:sldId id="310" r:id="rId17"/>
    <p:sldId id="304" r:id="rId18"/>
    <p:sldId id="279" r:id="rId19"/>
    <p:sldId id="305" r:id="rId20"/>
    <p:sldId id="306" r:id="rId21"/>
    <p:sldId id="308" r:id="rId22"/>
    <p:sldId id="307" r:id="rId23"/>
    <p:sldId id="2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30B2F-5902-4117-9749-3E58DD20AA8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646F0-8A4B-4CFE-80AD-6AB4D086B02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81989-C279-4072-BCA3-4185F6AEAB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EAC15-EF87-461E-8FDD-32777B3F1AF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2392950" y="314551"/>
            <a:ext cx="7026821" cy="147070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MADRAS INSTITUTE OF TECHNOLOGY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UNIVERSITY-CHENNAI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 txBox="1"/>
          <p:nvPr/>
        </p:nvSpPr>
        <p:spPr>
          <a:xfrm>
            <a:off x="2097314" y="2847725"/>
            <a:ext cx="8265886" cy="109454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Hierarchical Temporal Graph Neural Network for Early Intrusion Detection in 5G/6G Networks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7732" y="170426"/>
            <a:ext cx="1916009" cy="124900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70" y="0"/>
            <a:ext cx="1942780" cy="17852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rot="10800000" flipV="1">
            <a:off x="450165" y="4768883"/>
            <a:ext cx="115119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				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Kumaran S (2023506091) 					Dr. G. Rajesh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Gnanendhiran V (2023506103) 				              Associate Professor,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Janardhanam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(2023506108) 					Department of Information Technology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Nandha Kumar V (2023506308)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4500" y="1905000"/>
            <a:ext cx="11303000" cy="50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1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83433" y="377464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5070" y="900684"/>
            <a:ext cx="9665110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wireless networks generate highly dynamic and heterogeneous traffic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intrusion patterns difficult to detect using conventional IDS techniques.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machine-learning approaches mainly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traffic features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may not capture relationships between communicating network entities.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detection approaches may therefore face limitations in identifying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and evolving attack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1045" y="5033986"/>
            <a:ext cx="9665110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Explainable Hierarchical Temporal Graph Neural Network (HTSTCL-GNN) for early detection of benign and malicious activities in 5G wireless systems by learning spatial and temporal characteristics of network traffic.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6153" y="4391988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590862" y="237735"/>
            <a:ext cx="10515600" cy="684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REVIEW 1 – REVIEW 2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725" y="922655"/>
          <a:ext cx="11234420" cy="5621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7210"/>
                <a:gridCol w="5617210"/>
              </a:tblGrid>
              <a:tr h="51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Review-1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Review-2</a:t>
                      </a:r>
                      <a:endParaRPr lang="en-IN"/>
                    </a:p>
                  </a:txBody>
                  <a:tcPr anchor="ctr"/>
                </a:tc>
              </a:tr>
              <a:tr h="981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5G-NIDD Dataset</a:t>
                      </a:r>
                      <a:r>
                        <a:rPr lang="en-US" altLang="en-US"/>
                        <a:t>: 1,215,890 flow records, 91 features, 2 classes</a:t>
                      </a:r>
                      <a:endParaRPr lang="en-US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HTSTCL-GNN: </a:t>
                      </a:r>
                      <a:r>
                        <a:rPr lang="en-US" altLang="en-US"/>
                        <a:t>Proposed model developed using GAT + 2-layer GRU + hierarchical attention + FC classifier</a:t>
                      </a:r>
                      <a:endParaRPr lang="en-US" altLang="en-US"/>
                    </a:p>
                  </a:txBody>
                  <a:tcPr anchor="ctr"/>
                </a:tc>
              </a:tr>
              <a:tr h="687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Preprocessing</a:t>
                      </a:r>
                      <a:r>
                        <a:rPr lang="en-US" altLang="en-US"/>
                        <a:t>: StandardScaler applied using the Python training scaler</a:t>
                      </a:r>
                      <a:endParaRPr lang="en-US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 dirty="0"/>
                        <a:t>Training</a:t>
                      </a:r>
                      <a:r>
                        <a:rPr lang="en-US" altLang="en-US" dirty="0"/>
                        <a:t>: Model trained using 48,635 graph sequences</a:t>
                      </a:r>
                      <a:endParaRPr lang="en-US" altLang="en-US" dirty="0"/>
                    </a:p>
                  </a:txBody>
                  <a:tcPr anchor="ctr"/>
                </a:tc>
              </a:tr>
              <a:tr h="686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Progressive Windows</a:t>
                      </a:r>
                      <a:r>
                        <a:rPr lang="en-US" altLang="en-US"/>
                        <a:t>: 5 flow records/window → 243,178 graphs</a:t>
                      </a:r>
                      <a:endParaRPr lang="en-US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Validation </a:t>
                      </a:r>
                      <a:r>
                        <a:rPr lang="en-US" altLang="en-US"/>
                        <a:t>: 7,295 validation + 98.4</a:t>
                      </a:r>
                      <a:r>
                        <a:rPr lang="en-IN" altLang="en-US"/>
                        <a:t>4</a:t>
                      </a:r>
                      <a:r>
                        <a:rPr lang="en-US" altLang="en-US"/>
                        <a:t>% </a:t>
                      </a:r>
                      <a:r>
                        <a:rPr lang="en-IN" altLang="en-US"/>
                        <a:t>Validation</a:t>
                      </a:r>
                      <a:r>
                        <a:rPr lang="en-US" altLang="en-US"/>
                        <a:t> accuracy</a:t>
                      </a:r>
                      <a:endParaRPr lang="en-US" altLang="en-US"/>
                    </a:p>
                  </a:txBody>
                  <a:tcPr anchor="ctr"/>
                </a:tc>
              </a:tr>
              <a:tr h="687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/>
                        <a:t>Graph</a:t>
                      </a:r>
                      <a:r>
                        <a:rPr lang="en-US" altLang="en-US"/>
                        <a:t>: 5 nodes + 10 directed edges/graph</a:t>
                      </a:r>
                      <a:endParaRPr lang="en-US" altLang="en-US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1">
                          <a:sym typeface="+mn-ea"/>
                        </a:rPr>
                        <a:t>Testing</a:t>
                      </a:r>
                      <a:r>
                        <a:rPr lang="en-IN" altLang="en-US" sz="1800" b="1">
                          <a:sym typeface="+mn-ea"/>
                        </a:rPr>
                        <a:t> </a:t>
                      </a:r>
                      <a:r>
                        <a:rPr lang="en-IN" altLang="en-US" sz="1800">
                          <a:sym typeface="+mn-ea"/>
                        </a:rPr>
                        <a:t>: </a:t>
                      </a:r>
                      <a:r>
                        <a:rPr lang="en-US" altLang="en-US" sz="1800">
                          <a:sym typeface="+mn-ea"/>
                        </a:rPr>
                        <a:t>7,296 test sequences; 98.41% test accuracy</a:t>
                      </a:r>
                      <a:endParaRPr lang="en-IN"/>
                    </a:p>
                  </a:txBody>
                  <a:tcPr anchor="ctr"/>
                </a:tc>
              </a:tr>
              <a:tr h="68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 dirty="0"/>
                        <a:t>Temporal Sequence</a:t>
                      </a:r>
                      <a:r>
                        <a:rPr lang="en-US" altLang="en-US" dirty="0"/>
                        <a:t>: 5 graphs/sequence → 48,635 sequences</a:t>
                      </a:r>
                      <a:endParaRPr lang="en-US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MATLAB 5G Environment</a:t>
                      </a:r>
                      <a:r>
                        <a:rPr lang="en-US" altLang="en-US"/>
                        <a:t>: 3 Base Stations + 30 UEs</a:t>
                      </a:r>
                      <a:endParaRPr lang="en-US" altLang="en-US"/>
                    </a:p>
                  </a:txBody>
                  <a:tcPr anchor="ctr"/>
                </a:tc>
              </a:tr>
              <a:tr h="68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Class Distribution</a:t>
                      </a:r>
                      <a:r>
                        <a:rPr lang="en-US" altLang="en-US"/>
                        <a:t>: 17,738 benign + 30,897 malicious sequences</a:t>
                      </a:r>
                      <a:endParaRPr lang="en-US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Simulation Traffic</a:t>
                      </a:r>
                      <a:r>
                        <a:rPr lang="en-US" altLang="en-US"/>
                        <a:t>: </a:t>
                      </a:r>
                      <a:r>
                        <a:rPr lang="en-IN" altLang="en-US" sz="1800">
                          <a:sym typeface="+mn-ea"/>
                        </a:rPr>
                        <a:t>1002</a:t>
                      </a:r>
                      <a:r>
                        <a:rPr lang="en-US" altLang="en-US" sz="1800">
                          <a:sym typeface="+mn-ea"/>
                        </a:rPr>
                        <a:t> samples — </a:t>
                      </a:r>
                      <a:r>
                        <a:rPr lang="en-IN" altLang="en-US" sz="1800">
                          <a:sym typeface="+mn-ea"/>
                        </a:rPr>
                        <a:t>408</a:t>
                      </a:r>
                      <a:r>
                        <a:rPr lang="en-US" altLang="en-US" sz="1800">
                          <a:sym typeface="+mn-ea"/>
                        </a:rPr>
                        <a:t> benign + </a:t>
                      </a:r>
                      <a:r>
                        <a:rPr lang="en-IN" altLang="en-US" sz="1800">
                          <a:sym typeface="+mn-ea"/>
                        </a:rPr>
                        <a:t>594</a:t>
                      </a:r>
                      <a:r>
                        <a:rPr lang="en-US" altLang="en-US" sz="1800">
                          <a:sym typeface="+mn-ea"/>
                        </a:rPr>
                        <a:t> malicious</a:t>
                      </a:r>
                      <a:endParaRPr lang="en-US" altLang="en-US"/>
                    </a:p>
                  </a:txBody>
                  <a:tcPr anchor="ctr"/>
                </a:tc>
              </a:tr>
              <a:tr h="68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b="1"/>
                        <a:t>I</a:t>
                      </a:r>
                      <a:r>
                        <a:rPr lang="en-US" altLang="en-US" b="1"/>
                        <a:t>nput Dimension</a:t>
                      </a:r>
                      <a:r>
                        <a:rPr lang="en-US" altLang="en-US"/>
                        <a:t>: 5 × 91 features × 5 graphs</a:t>
                      </a:r>
                      <a:endParaRPr lang="en-US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b="1"/>
                        <a:t>Prediction</a:t>
                      </a:r>
                      <a:r>
                        <a:rPr lang="en-US" altLang="en-US"/>
                        <a:t>: MATLAB-generated 5G traffic classified using the trained HTSTCL-GNN</a:t>
                      </a:r>
                      <a:endParaRPr lang="en-US" altLang="en-US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3"/>
          <a:stretch>
            <a:fillRect/>
          </a:stretch>
        </p:blipFill>
        <p:spPr>
          <a:xfrm>
            <a:off x="306375" y="1246709"/>
            <a:ext cx="11574250" cy="49204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3433" y="377464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2010"/>
            <a:ext cx="12192000" cy="5173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5245" y="164465"/>
            <a:ext cx="358203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31975" y="1347975"/>
            <a:ext cx="69612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5445" y="789305"/>
            <a:ext cx="11312525" cy="562991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72154" y="273233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Implementation Details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69082" y="571140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Fig. 1. Data</a:t>
            </a: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 Split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99" y="1481471"/>
            <a:ext cx="7491106" cy="38891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06"/>
          <a:stretch>
            <a:fillRect/>
          </a:stretch>
        </p:blipFill>
        <p:spPr>
          <a:xfrm>
            <a:off x="8316715" y="1481473"/>
            <a:ext cx="3130648" cy="3889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ass_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20" y="337288"/>
            <a:ext cx="9893300" cy="6000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/>
        </p:nvSpPr>
        <p:spPr>
          <a:xfrm>
            <a:off x="590862" y="237735"/>
            <a:ext cx="10515600" cy="684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Details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73394" y="1111045"/>
          <a:ext cx="9753600" cy="4984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/>
                <a:gridCol w="4876800"/>
              </a:tblGrid>
              <a:tr h="48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Parameter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Value</a:t>
                      </a:r>
                      <a:endParaRPr lang="en-IN"/>
                    </a:p>
                  </a:txBody>
                  <a:tcPr anchor="ctr"/>
                </a:tc>
              </a:tr>
              <a:tr h="48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5G-NIDD</a:t>
                      </a:r>
                      <a:endParaRPr lang="en-IN"/>
                    </a:p>
                  </a:txBody>
                  <a:tcPr anchor="ctr"/>
                </a:tc>
              </a:tr>
              <a:tr h="48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Features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91</a:t>
                      </a:r>
                      <a:endParaRPr lang="en-IN" dirty="0"/>
                    </a:p>
                  </a:txBody>
                  <a:tcPr anchor="ctr"/>
                </a:tc>
              </a:tr>
              <a:tr h="482674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Training/ </a:t>
                      </a:r>
                      <a:r>
                        <a:rPr lang="en-IN" sz="1800">
                          <a:sym typeface="+mn-ea"/>
                        </a:rPr>
                        <a:t>Validation / Test</a:t>
                      </a:r>
                      <a:r>
                        <a:rPr lang="en-IN"/>
                        <a:t> Sequences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34,044 + 7,295 + 7295</a:t>
                      </a:r>
                      <a:endParaRPr lang="en-IN"/>
                    </a:p>
                  </a:txBody>
                  <a:tcPr anchor="ctr"/>
                </a:tc>
              </a:tr>
              <a:tr h="48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ym typeface="+mn-ea"/>
                        </a:rPr>
                        <a:t>Total Temporal Sequences</a:t>
                      </a:r>
                      <a:endParaRPr lang="en-IN" sz="1800"/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ym typeface="+mn-ea"/>
                        </a:rPr>
                        <a:t>48,635</a:t>
                      </a:r>
                      <a:endParaRPr lang="en-IN" sz="1800"/>
                    </a:p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</a:tr>
              <a:tr h="482674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Epochs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  <a:endParaRPr lang="en-IN"/>
                    </a:p>
                  </a:txBody>
                  <a:tcPr anchor="ctr"/>
                </a:tc>
              </a:tr>
              <a:tr h="48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Batch Size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</a:t>
                      </a:r>
                      <a:endParaRPr lang="en-IN"/>
                    </a:p>
                  </a:txBody>
                  <a:tcPr anchor="ctr"/>
                </a:tc>
              </a:tr>
              <a:tr h="48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Rate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0.001</a:t>
                      </a:r>
                      <a:endParaRPr lang="en-IN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36" y="678426"/>
            <a:ext cx="5526109" cy="5830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457" y="678426"/>
            <a:ext cx="5334000" cy="58305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3436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Evaluation Results (Training) :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440" y="273050"/>
            <a:ext cx="67544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Evaluation Results (Validation &amp; Test) :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evaluation"/>
          <p:cNvPicPr>
            <a:picLocks noChangeAspect="1"/>
          </p:cNvPicPr>
          <p:nvPr/>
        </p:nvPicPr>
        <p:blipFill>
          <a:blip r:embed="rId1"/>
          <a:srcRect t="37615" r="39039"/>
          <a:stretch>
            <a:fillRect/>
          </a:stretch>
        </p:blipFill>
        <p:spPr>
          <a:xfrm>
            <a:off x="611754" y="1102995"/>
            <a:ext cx="5166460" cy="46520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19203"/>
          <a:stretch>
            <a:fillRect/>
          </a:stretch>
        </p:blipFill>
        <p:spPr>
          <a:xfrm>
            <a:off x="6019800" y="1102995"/>
            <a:ext cx="5560446" cy="4652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18639" y="587697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Fig. 2. Validation Results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25361" y="584610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Fig. 3. Test Results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8567" y="430212"/>
            <a:ext cx="5871026" cy="4298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Validation And Test Confusion Matrix 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test_confusion_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205" y="1227179"/>
            <a:ext cx="5287978" cy="5056188"/>
          </a:xfrm>
          <a:prstGeom prst="rect">
            <a:avLst/>
          </a:prstGeom>
        </p:spPr>
      </p:pic>
      <p:pic>
        <p:nvPicPr>
          <p:cNvPr id="4" name="Picture 3" descr="validation_confusion_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1280160"/>
            <a:ext cx="4978400" cy="49502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96" y="607291"/>
            <a:ext cx="9467604" cy="58916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8247" y="359092"/>
            <a:ext cx="5871026" cy="4298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Metrics Summary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49" y="335187"/>
            <a:ext cx="9769032" cy="54859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56881" y="599880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Fig. 4. ROC and AUC </a:t>
            </a: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1949" y="147722"/>
            <a:ext cx="6096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Details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53729" y="875071"/>
          <a:ext cx="9861550" cy="568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0878"/>
                <a:gridCol w="4930878"/>
              </a:tblGrid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Parameter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Value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MATLAB Version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R2024b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5G NR-inspired simulation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Topology Type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Multi-Cell Triangular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gNBs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UEs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UE per gNB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  <a:endParaRPr lang="en-IN" dirty="0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Carrier Frequency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3.50 GHz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gNBs Tx Power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43dBm (~20W)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ym typeface="+mn-ea"/>
                        </a:rPr>
                        <a:t>No.of.Benign UEs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</a:t>
                      </a:r>
                      <a:endParaRPr lang="en-IN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No.of.Malicious UEs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18</a:t>
                      </a:r>
                      <a:endParaRPr lang="en-IN" dirty="0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gNB Antenna Height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25m</a:t>
                      </a:r>
                      <a:endParaRPr lang="en-IN" dirty="0"/>
                    </a:p>
                  </a:txBody>
                  <a:tcPr anchor="ctr"/>
                </a:tc>
              </a:tr>
              <a:tr h="437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UE Antenna Height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1.5m</a:t>
                      </a:r>
                      <a:endParaRPr lang="en-IN" sz="1800" b="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156" y="10152"/>
            <a:ext cx="7604009" cy="6302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725" y="6312535"/>
            <a:ext cx="10808970" cy="433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2000" dirty="0"/>
              <a:t>Fig. 5. MATLAB 5G NR simulation topology containing  3 </a:t>
            </a:r>
            <a:r>
              <a:rPr lang="en-IN" sz="2000" dirty="0" err="1"/>
              <a:t>gNB</a:t>
            </a:r>
            <a:r>
              <a:rPr lang="en-IN" sz="2000" dirty="0"/>
              <a:t> base stations and 30 UE links.</a:t>
            </a:r>
            <a:endParaRPr lang="en-I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/>
        </p:nvSpPr>
        <p:spPr>
          <a:xfrm>
            <a:off x="8857937" y="62551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94684A-3380-46C6-921B-398B7C1BD322}" type="slidenum">
              <a:rPr lang="en-IN" smtClean="0"/>
            </a:fld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4603617" y="221931"/>
            <a:ext cx="5871026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"/>
          <p:cNvSpPr txBox="1"/>
          <p:nvPr/>
        </p:nvSpPr>
        <p:spPr>
          <a:xfrm>
            <a:off x="964054" y="452119"/>
            <a:ext cx="4104005" cy="4990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Input: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Graph sequences G = {G1, G2, ..., GT},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node features Xt,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graph edges Et,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labels Y,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learning rate η,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batch size B,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epochs 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Trained model parameters θ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Predicted IDS class Ŷ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1.Initialize HTSTCL-GNN model parameters θ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epoch = 1 to E do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	Divide graph sequences into batches of size B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  for each batch do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Initialize spatial embeddings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for each graph snapshot Gt do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Extract: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Gt = (Vt, Et, Xt)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  Apply Spatial Encoder using Graph Attention: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Hs(t) = GATConv(Xt, Et)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5"/>
          <p:cNvSpPr txBox="1"/>
          <p:nvPr/>
        </p:nvSpPr>
        <p:spPr>
          <a:xfrm>
            <a:off x="6502718" y="855027"/>
            <a:ext cx="4104005" cy="4990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            Apply activation and normalization: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Hs(t) = BatchNorm(ReLU(Hs(t)))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end for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       Form temporal sequence: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Hs = {Hs(1), Hs(2), ..., Hs(T)}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Apply Temporal Encoder: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Htemp = GRU(Hs)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Project temporal features: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Ht = Linear(Htemp)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       Compute hierarchical attention weights: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αs = SpatialAttention(Hs)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αt = TemporalAttention(Ht)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       Perform Hierarchical Fusion: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Hf = Fusion(αs · Hs, αt · Ht)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Apply Projection Head: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Hp = Linear(ReLU(Hf))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Apply Dropout for regularization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       Generate classification output: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Z = Classifier(Hp)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.        Update model parameters: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θ ← θ − η · ∇θL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end for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578485"/>
            <a:ext cx="11162030" cy="6096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813" y="178488"/>
            <a:ext cx="61943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Results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204756"/>
            <a:ext cx="11425084" cy="62747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979170"/>
            <a:ext cx="11591925" cy="5274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309" y="226380"/>
            <a:ext cx="34806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Performance 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540774"/>
            <a:ext cx="11456219" cy="6138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4128" y="88490"/>
            <a:ext cx="437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 by Flow Inspection</a:t>
            </a:r>
            <a:endParaRPr lang="en-IN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5909" y="2413337"/>
            <a:ext cx="48801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4312</Words>
  <Application>WPS Presentation</Application>
  <PresentationFormat>Widescreen</PresentationFormat>
  <Paragraphs>236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Microsoft YaHei</vt:lpstr>
      <vt:lpstr>Arial Unicode MS</vt:lpstr>
      <vt:lpstr>Aptos Display</vt:lpstr>
      <vt:lpstr>Segoe UI Variable Display</vt:lpstr>
      <vt:lpstr>Aptos</vt:lpstr>
      <vt:lpstr>Segoe UI</vt:lpstr>
      <vt:lpstr>MS PGothic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S0747624</dc:creator>
  <cp:lastModifiedBy>samku</cp:lastModifiedBy>
  <cp:revision>16</cp:revision>
  <dcterms:created xsi:type="dcterms:W3CDTF">2026-08-04T16:01:00Z</dcterms:created>
  <dcterms:modified xsi:type="dcterms:W3CDTF">2026-09-22T17:15:42Z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63827AD6671D43DC83216FDE4593DFC6_13</vt:lpwstr>
  </property>
</Properties>
</file>